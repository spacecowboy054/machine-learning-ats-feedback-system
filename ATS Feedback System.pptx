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8229600" cx="14630400"/>
  <p:notesSz cx="8229600" cy="14630400"/>
  <p:embeddedFontLst>
    <p:embeddedFont>
      <p:font typeface="Crimson Pro"/>
      <p:regular r:id="rId15"/>
      <p:bold r:id="rId16"/>
      <p:italic r:id="rId17"/>
      <p:boldItalic r:id="rId18"/>
    </p:embeddedFont>
    <p:embeddedFont>
      <p:font typeface="Open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OpenSans-bold.fntdata"/><Relationship Id="rId11" Type="http://schemas.openxmlformats.org/officeDocument/2006/relationships/slide" Target="slides/slide7.xml"/><Relationship Id="rId22" Type="http://schemas.openxmlformats.org/officeDocument/2006/relationships/font" Target="fonts/OpenSans-boldItalic.fntdata"/><Relationship Id="rId10" Type="http://schemas.openxmlformats.org/officeDocument/2006/relationships/slide" Target="slides/slide6.xml"/><Relationship Id="rId21" Type="http://schemas.openxmlformats.org/officeDocument/2006/relationships/font" Target="fonts/OpenSans-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CrimsonPro-regular.fntdata"/><Relationship Id="rId14" Type="http://schemas.openxmlformats.org/officeDocument/2006/relationships/slide" Target="slides/slide10.xml"/><Relationship Id="rId17" Type="http://schemas.openxmlformats.org/officeDocument/2006/relationships/font" Target="fonts/CrimsonPro-italic.fntdata"/><Relationship Id="rId16" Type="http://schemas.openxmlformats.org/officeDocument/2006/relationships/font" Target="fonts/CrimsonPro-bold.fntdata"/><Relationship Id="rId5" Type="http://schemas.openxmlformats.org/officeDocument/2006/relationships/slide" Target="slides/slide1.xml"/><Relationship Id="rId19" Type="http://schemas.openxmlformats.org/officeDocument/2006/relationships/font" Target="fonts/OpenSans-regular.fntdata"/><Relationship Id="rId6" Type="http://schemas.openxmlformats.org/officeDocument/2006/relationships/slide" Target="slides/slide2.xml"/><Relationship Id="rId18" Type="http://schemas.openxmlformats.org/officeDocument/2006/relationships/font" Target="fonts/CrimsonPro-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3"/>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4"/>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5"/>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6"/>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6"/>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sp>
        <p:nvSpPr>
          <p:cNvPr id="31" name="Google Shape;31;p7"/>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7"/>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sp>
        <p:nvSpPr>
          <p:cNvPr id="35" name="Google Shape;35;p8"/>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8"/>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sp>
        <p:nvSpPr>
          <p:cNvPr id="39" name="Google Shape;39;p9"/>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9"/>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sp>
        <p:nvSpPr>
          <p:cNvPr id="43" name="Google Shape;43;p10"/>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0"/>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1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6" name="Shape 46"/>
        <p:cNvGrpSpPr/>
        <p:nvPr/>
      </p:nvGrpSpPr>
      <p:grpSpPr>
        <a:xfrm>
          <a:off x="0" y="0"/>
          <a:ext cx="0" cy="0"/>
          <a:chOff x="0" y="0"/>
          <a:chExt cx="0" cy="0"/>
        </a:xfrm>
      </p:grpSpPr>
      <p:sp>
        <p:nvSpPr>
          <p:cNvPr id="47" name="Google Shape;47;p11"/>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1"/>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1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8.png"/><Relationship Id="rId10" Type="http://schemas.openxmlformats.org/officeDocument/2006/relationships/image" Target="../media/image26.png"/><Relationship Id="rId9"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p:nvPr/>
        </p:nvSpPr>
        <p:spPr>
          <a:xfrm>
            <a:off x="721050" y="1757650"/>
            <a:ext cx="10446000" cy="70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5250">
                <a:solidFill>
                  <a:srgbClr val="443728"/>
                </a:solidFill>
                <a:latin typeface="Crimson Pro"/>
                <a:ea typeface="Crimson Pro"/>
                <a:cs typeface="Crimson Pro"/>
                <a:sym typeface="Crimson Pro"/>
              </a:rPr>
              <a:t>CSE 5717 – </a:t>
            </a:r>
            <a:r>
              <a:rPr b="1" i="0" lang="en-US" sz="5250" u="none" cap="none" strike="noStrike">
                <a:solidFill>
                  <a:srgbClr val="443728"/>
                </a:solidFill>
                <a:latin typeface="Crimson Pro"/>
                <a:ea typeface="Crimson Pro"/>
                <a:cs typeface="Crimson Pro"/>
                <a:sym typeface="Crimson Pro"/>
              </a:rPr>
              <a:t>ATS Feedback </a:t>
            </a:r>
            <a:endParaRPr b="1" i="0" sz="5250" u="none" cap="none" strike="noStrike">
              <a:solidFill>
                <a:srgbClr val="443728"/>
              </a:solidFill>
              <a:latin typeface="Crimson Pro"/>
              <a:ea typeface="Crimson Pro"/>
              <a:cs typeface="Crimson Pro"/>
              <a:sym typeface="Crimson Pro"/>
            </a:endParaRPr>
          </a:p>
          <a:p>
            <a:pPr indent="0" lvl="0" marL="0" marR="0" rtl="0" algn="l">
              <a:lnSpc>
                <a:spcPct val="100000"/>
              </a:lnSpc>
              <a:spcBef>
                <a:spcPts val="0"/>
              </a:spcBef>
              <a:spcAft>
                <a:spcPts val="0"/>
              </a:spcAft>
              <a:buNone/>
            </a:pPr>
            <a:r>
              <a:rPr b="1" i="0" lang="en-US" sz="5250" u="none" cap="none" strike="noStrike">
                <a:solidFill>
                  <a:srgbClr val="443728"/>
                </a:solidFill>
                <a:latin typeface="Crimson Pro"/>
                <a:ea typeface="Crimson Pro"/>
                <a:cs typeface="Crimson Pro"/>
                <a:sym typeface="Crimson Pro"/>
              </a:rPr>
              <a:t>System</a:t>
            </a:r>
            <a:endParaRPr b="0" i="0" sz="5250" u="none" cap="none" strike="noStrike"/>
          </a:p>
        </p:txBody>
      </p:sp>
      <p:sp>
        <p:nvSpPr>
          <p:cNvPr id="57" name="Google Shape;57;p13"/>
          <p:cNvSpPr/>
          <p:nvPr/>
        </p:nvSpPr>
        <p:spPr>
          <a:xfrm>
            <a:off x="1119090" y="3612458"/>
            <a:ext cx="75564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43728"/>
              </a:buClr>
              <a:buSzPts val="1750"/>
              <a:buFont typeface="Open Sans"/>
              <a:buNone/>
            </a:pPr>
            <a:r>
              <a:rPr b="1" i="0" lang="en-US" sz="1950" u="none" cap="none" strike="noStrike">
                <a:solidFill>
                  <a:srgbClr val="443728"/>
                </a:solidFill>
                <a:latin typeface="Open Sans"/>
                <a:ea typeface="Open Sans"/>
                <a:cs typeface="Open Sans"/>
                <a:sym typeface="Open Sans"/>
              </a:rPr>
              <a:t>Team 1:</a:t>
            </a:r>
            <a:r>
              <a:rPr b="0" i="0" lang="en-US" sz="1950" u="none" cap="none" strike="noStrike">
                <a:solidFill>
                  <a:srgbClr val="443728"/>
                </a:solidFill>
                <a:latin typeface="Open Sans"/>
                <a:ea typeface="Open Sans"/>
                <a:cs typeface="Open Sans"/>
                <a:sym typeface="Open Sans"/>
              </a:rPr>
              <a:t> Loc Tran, Andrew Graham, Kunal Bagga</a:t>
            </a:r>
            <a:endParaRPr b="0" i="0" sz="1950" u="none" cap="none" strike="noStrike"/>
          </a:p>
        </p:txBody>
      </p:sp>
      <p:pic>
        <p:nvPicPr>
          <p:cNvPr id="58" name="Google Shape;58;p13"/>
          <p:cNvPicPr preferRelativeResize="0"/>
          <p:nvPr/>
        </p:nvPicPr>
        <p:blipFill>
          <a:blip r:embed="rId3">
            <a:alphaModFix/>
          </a:blip>
          <a:stretch>
            <a:fillRect/>
          </a:stretch>
        </p:blipFill>
        <p:spPr>
          <a:xfrm>
            <a:off x="6725225" y="-161062"/>
            <a:ext cx="8977752" cy="88482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p:nvPr/>
        </p:nvSpPr>
        <p:spPr>
          <a:xfrm>
            <a:off x="394622" y="521799"/>
            <a:ext cx="5178300" cy="8952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443728"/>
              </a:buClr>
              <a:buSzPts val="4450"/>
              <a:buFont typeface="Crimson Pro"/>
              <a:buNone/>
            </a:pPr>
            <a:r>
              <a:rPr b="1" i="0" lang="en-US" sz="4450" u="none" cap="none" strike="noStrike">
                <a:solidFill>
                  <a:srgbClr val="443728"/>
                </a:solidFill>
                <a:latin typeface="Crimson Pro"/>
                <a:ea typeface="Crimson Pro"/>
                <a:cs typeface="Crimson Pro"/>
                <a:sym typeface="Crimson Pro"/>
              </a:rPr>
              <a:t>Problem Statement: </a:t>
            </a:r>
            <a:endParaRPr b="0" i="0" sz="4450" u="none" cap="none" strike="noStrike"/>
          </a:p>
        </p:txBody>
      </p:sp>
      <p:sp>
        <p:nvSpPr>
          <p:cNvPr id="65" name="Google Shape;65;p14"/>
          <p:cNvSpPr/>
          <p:nvPr/>
        </p:nvSpPr>
        <p:spPr>
          <a:xfrm>
            <a:off x="636300" y="1559200"/>
            <a:ext cx="6486000" cy="39141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43728"/>
              </a:buClr>
              <a:buSzPts val="1750"/>
              <a:buFont typeface="Open Sans"/>
              <a:buNone/>
            </a:pPr>
            <a:r>
              <a:rPr lang="en-US" sz="2250">
                <a:solidFill>
                  <a:srgbClr val="443728"/>
                </a:solidFill>
                <a:latin typeface="Open Sans"/>
                <a:ea typeface="Open Sans"/>
                <a:cs typeface="Open Sans"/>
                <a:sym typeface="Open Sans"/>
              </a:rPr>
              <a:t>The Applicant Tracking System (ATS) is a frequently used system that hiring managers used to filter applicants. The system reads the text and asserts how well the applicant fits the job description by giving a 0 if the applicant will not get an interview and a 1 if the applicant will get an interview. Our goal is to give feedback on how well a resume fits with the job description, like how well the skills align.</a:t>
            </a:r>
            <a:endParaRPr b="0" i="0" sz="2250" u="none" cap="none" strike="noStrike"/>
          </a:p>
        </p:txBody>
      </p:sp>
      <p:sp>
        <p:nvSpPr>
          <p:cNvPr id="66" name="Google Shape;66;p14"/>
          <p:cNvSpPr/>
          <p:nvPr/>
        </p:nvSpPr>
        <p:spPr>
          <a:xfrm>
            <a:off x="12102025" y="7800350"/>
            <a:ext cx="2475300" cy="334800"/>
          </a:xfrm>
          <a:prstGeom prst="rect">
            <a:avLst/>
          </a:prstGeom>
          <a:solidFill>
            <a:srgbClr val="FFFC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7" name="Google Shape;67;p14"/>
          <p:cNvPicPr preferRelativeResize="0"/>
          <p:nvPr/>
        </p:nvPicPr>
        <p:blipFill>
          <a:blip r:embed="rId3">
            <a:alphaModFix/>
          </a:blip>
          <a:stretch>
            <a:fillRect/>
          </a:stretch>
        </p:blipFill>
        <p:spPr>
          <a:xfrm>
            <a:off x="7729650" y="1758850"/>
            <a:ext cx="6421376" cy="401336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p:nvPr/>
        </p:nvSpPr>
        <p:spPr>
          <a:xfrm>
            <a:off x="372925" y="739825"/>
            <a:ext cx="3693000" cy="73080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443728"/>
              </a:buClr>
              <a:buSzPts val="1654"/>
              <a:buFont typeface="Crimson Pro"/>
              <a:buNone/>
            </a:pPr>
            <a:r>
              <a:rPr b="1" lang="en-US" sz="3653">
                <a:solidFill>
                  <a:srgbClr val="443728"/>
                </a:solidFill>
                <a:latin typeface="Crimson Pro"/>
                <a:ea typeface="Crimson Pro"/>
                <a:cs typeface="Crimson Pro"/>
                <a:sym typeface="Crimson Pro"/>
              </a:rPr>
              <a:t>Resume Dataset:</a:t>
            </a:r>
            <a:endParaRPr b="0" i="0" sz="3653" u="none" cap="none" strike="noStrike"/>
          </a:p>
        </p:txBody>
      </p:sp>
      <p:sp>
        <p:nvSpPr>
          <p:cNvPr id="74" name="Google Shape;74;p15"/>
          <p:cNvSpPr/>
          <p:nvPr/>
        </p:nvSpPr>
        <p:spPr>
          <a:xfrm>
            <a:off x="456750" y="1470575"/>
            <a:ext cx="6566100" cy="51543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43728"/>
              </a:buClr>
              <a:buSzPts val="1065"/>
              <a:buFont typeface="Open Sans"/>
              <a:buNone/>
            </a:pPr>
            <a:r>
              <a:rPr lang="en-US" sz="2165">
                <a:solidFill>
                  <a:srgbClr val="443728"/>
                </a:solidFill>
                <a:latin typeface="Open Sans"/>
                <a:ea typeface="Open Sans"/>
                <a:cs typeface="Open Sans"/>
                <a:sym typeface="Open Sans"/>
              </a:rPr>
              <a:t>This dataset was aggregated from 3 other datasets. These other datasets were compiled of resumes from livecareer.com, a github repo, and other resumes scraped from the internet. This dataset provides columns such as: </a:t>
            </a:r>
            <a:endParaRPr sz="2165">
              <a:solidFill>
                <a:srgbClr val="443728"/>
              </a:solidFill>
              <a:latin typeface="Open Sans"/>
              <a:ea typeface="Open Sans"/>
              <a:cs typeface="Open Sans"/>
              <a:sym typeface="Open Sans"/>
            </a:endParaRPr>
          </a:p>
          <a:p>
            <a:pPr indent="-366094" lvl="0" marL="457200" marR="0" rtl="0" algn="l">
              <a:lnSpc>
                <a:spcPct val="160000"/>
              </a:lnSpc>
              <a:spcBef>
                <a:spcPts val="0"/>
              </a:spcBef>
              <a:spcAft>
                <a:spcPts val="0"/>
              </a:spcAft>
              <a:buClr>
                <a:srgbClr val="443728"/>
              </a:buClr>
              <a:buSzPts val="2165"/>
              <a:buFont typeface="Open Sans"/>
              <a:buChar char="●"/>
            </a:pPr>
            <a:r>
              <a:rPr lang="en-US" sz="2165">
                <a:solidFill>
                  <a:srgbClr val="443728"/>
                </a:solidFill>
                <a:latin typeface="Open Sans"/>
                <a:ea typeface="Open Sans"/>
                <a:cs typeface="Open Sans"/>
                <a:sym typeface="Open Sans"/>
              </a:rPr>
              <a:t>person_id, </a:t>
            </a:r>
            <a:endParaRPr sz="2165">
              <a:solidFill>
                <a:srgbClr val="443728"/>
              </a:solidFill>
              <a:latin typeface="Open Sans"/>
              <a:ea typeface="Open Sans"/>
              <a:cs typeface="Open Sans"/>
              <a:sym typeface="Open Sans"/>
            </a:endParaRPr>
          </a:p>
          <a:p>
            <a:pPr indent="-366094" lvl="0" marL="457200" marR="0" rtl="0" algn="l">
              <a:lnSpc>
                <a:spcPct val="160000"/>
              </a:lnSpc>
              <a:spcBef>
                <a:spcPts val="0"/>
              </a:spcBef>
              <a:spcAft>
                <a:spcPts val="0"/>
              </a:spcAft>
              <a:buClr>
                <a:srgbClr val="443728"/>
              </a:buClr>
              <a:buSzPts val="2165"/>
              <a:buFont typeface="Open Sans"/>
              <a:buChar char="●"/>
            </a:pPr>
            <a:r>
              <a:rPr lang="en-US" sz="2165">
                <a:solidFill>
                  <a:srgbClr val="443728"/>
                </a:solidFill>
                <a:latin typeface="Open Sans"/>
                <a:ea typeface="Open Sans"/>
                <a:cs typeface="Open Sans"/>
                <a:sym typeface="Open Sans"/>
              </a:rPr>
              <a:t>title,</a:t>
            </a:r>
            <a:endParaRPr sz="2165">
              <a:solidFill>
                <a:srgbClr val="443728"/>
              </a:solidFill>
              <a:latin typeface="Open Sans"/>
              <a:ea typeface="Open Sans"/>
              <a:cs typeface="Open Sans"/>
              <a:sym typeface="Open Sans"/>
            </a:endParaRPr>
          </a:p>
          <a:p>
            <a:pPr indent="-366094" lvl="0" marL="457200" marR="0" rtl="0" algn="l">
              <a:lnSpc>
                <a:spcPct val="160000"/>
              </a:lnSpc>
              <a:spcBef>
                <a:spcPts val="0"/>
              </a:spcBef>
              <a:spcAft>
                <a:spcPts val="0"/>
              </a:spcAft>
              <a:buClr>
                <a:srgbClr val="443728"/>
              </a:buClr>
              <a:buSzPts val="2165"/>
              <a:buFont typeface="Open Sans"/>
              <a:buChar char="●"/>
            </a:pPr>
            <a:r>
              <a:rPr lang="en-US" sz="2165">
                <a:solidFill>
                  <a:srgbClr val="443728"/>
                </a:solidFill>
                <a:latin typeface="Open Sans"/>
                <a:ea typeface="Open Sans"/>
                <a:cs typeface="Open Sans"/>
                <a:sym typeface="Open Sans"/>
              </a:rPr>
              <a:t> experience, </a:t>
            </a:r>
            <a:endParaRPr sz="2165">
              <a:solidFill>
                <a:srgbClr val="443728"/>
              </a:solidFill>
              <a:latin typeface="Open Sans"/>
              <a:ea typeface="Open Sans"/>
              <a:cs typeface="Open Sans"/>
              <a:sym typeface="Open Sans"/>
            </a:endParaRPr>
          </a:p>
          <a:p>
            <a:pPr indent="-366094" lvl="0" marL="457200" marR="0" rtl="0" algn="l">
              <a:lnSpc>
                <a:spcPct val="160000"/>
              </a:lnSpc>
              <a:spcBef>
                <a:spcPts val="0"/>
              </a:spcBef>
              <a:spcAft>
                <a:spcPts val="0"/>
              </a:spcAft>
              <a:buClr>
                <a:srgbClr val="443728"/>
              </a:buClr>
              <a:buSzPts val="2165"/>
              <a:buFont typeface="Open Sans"/>
              <a:buChar char="●"/>
            </a:pPr>
            <a:r>
              <a:rPr lang="en-US" sz="2165">
                <a:solidFill>
                  <a:srgbClr val="443728"/>
                </a:solidFill>
                <a:latin typeface="Open Sans"/>
                <a:ea typeface="Open Sans"/>
                <a:cs typeface="Open Sans"/>
                <a:sym typeface="Open Sans"/>
              </a:rPr>
              <a:t>and skills. </a:t>
            </a:r>
            <a:endParaRPr b="0" i="0" sz="2165" u="none" cap="none" strike="noStrike"/>
          </a:p>
        </p:txBody>
      </p:sp>
      <p:sp>
        <p:nvSpPr>
          <p:cNvPr id="75" name="Google Shape;75;p15"/>
          <p:cNvSpPr/>
          <p:nvPr/>
        </p:nvSpPr>
        <p:spPr>
          <a:xfrm>
            <a:off x="7609050" y="739825"/>
            <a:ext cx="4986600" cy="73080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443728"/>
              </a:buClr>
              <a:buSzPts val="1654"/>
              <a:buFont typeface="Crimson Pro"/>
              <a:buNone/>
            </a:pPr>
            <a:r>
              <a:rPr b="1" lang="en-US" sz="3653">
                <a:solidFill>
                  <a:srgbClr val="443728"/>
                </a:solidFill>
                <a:latin typeface="Crimson Pro"/>
                <a:ea typeface="Crimson Pro"/>
                <a:cs typeface="Crimson Pro"/>
                <a:sym typeface="Crimson Pro"/>
              </a:rPr>
              <a:t>Job Description Dataset:</a:t>
            </a:r>
            <a:endParaRPr b="0" i="0" sz="3653" u="none" cap="none" strike="noStrike"/>
          </a:p>
        </p:txBody>
      </p:sp>
      <p:sp>
        <p:nvSpPr>
          <p:cNvPr id="76" name="Google Shape;76;p15"/>
          <p:cNvSpPr/>
          <p:nvPr/>
        </p:nvSpPr>
        <p:spPr>
          <a:xfrm>
            <a:off x="7609050" y="1537650"/>
            <a:ext cx="6777900" cy="51543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lang="en-US" sz="2165">
                <a:solidFill>
                  <a:srgbClr val="443728"/>
                </a:solidFill>
                <a:latin typeface="Open Sans"/>
                <a:ea typeface="Open Sans"/>
                <a:cs typeface="Open Sans"/>
                <a:sym typeface="Open Sans"/>
              </a:rPr>
              <a:t>This dataset was created through the Python Faker library and was refined using ChatGPT, meaning that this dataset is all synthetic data. This dataset provides columns such as:</a:t>
            </a:r>
            <a:endParaRPr sz="2165">
              <a:solidFill>
                <a:srgbClr val="443728"/>
              </a:solidFill>
              <a:latin typeface="Open Sans"/>
              <a:ea typeface="Open Sans"/>
              <a:cs typeface="Open Sans"/>
              <a:sym typeface="Open Sans"/>
            </a:endParaRPr>
          </a:p>
          <a:p>
            <a:pPr indent="-366094" lvl="0" marL="457200" marR="0" rtl="0" algn="l">
              <a:lnSpc>
                <a:spcPct val="160000"/>
              </a:lnSpc>
              <a:spcBef>
                <a:spcPts val="0"/>
              </a:spcBef>
              <a:spcAft>
                <a:spcPts val="0"/>
              </a:spcAft>
              <a:buClr>
                <a:srgbClr val="443728"/>
              </a:buClr>
              <a:buSzPts val="2165"/>
              <a:buFont typeface="Open Sans"/>
              <a:buChar char="●"/>
            </a:pPr>
            <a:r>
              <a:rPr lang="en-US" sz="2165">
                <a:solidFill>
                  <a:srgbClr val="443728"/>
                </a:solidFill>
                <a:latin typeface="Open Sans"/>
                <a:ea typeface="Open Sans"/>
                <a:cs typeface="Open Sans"/>
                <a:sym typeface="Open Sans"/>
              </a:rPr>
              <a:t> job_id, </a:t>
            </a:r>
            <a:endParaRPr sz="2165">
              <a:solidFill>
                <a:srgbClr val="443728"/>
              </a:solidFill>
              <a:latin typeface="Open Sans"/>
              <a:ea typeface="Open Sans"/>
              <a:cs typeface="Open Sans"/>
              <a:sym typeface="Open Sans"/>
            </a:endParaRPr>
          </a:p>
          <a:p>
            <a:pPr indent="-366094" lvl="0" marL="457200" marR="0" rtl="0" algn="l">
              <a:lnSpc>
                <a:spcPct val="160000"/>
              </a:lnSpc>
              <a:spcBef>
                <a:spcPts val="0"/>
              </a:spcBef>
              <a:spcAft>
                <a:spcPts val="0"/>
              </a:spcAft>
              <a:buClr>
                <a:srgbClr val="443728"/>
              </a:buClr>
              <a:buSzPts val="2165"/>
              <a:buFont typeface="Open Sans"/>
              <a:buChar char="●"/>
            </a:pPr>
            <a:r>
              <a:rPr lang="en-US" sz="2165">
                <a:solidFill>
                  <a:srgbClr val="443728"/>
                </a:solidFill>
                <a:latin typeface="Open Sans"/>
                <a:ea typeface="Open Sans"/>
                <a:cs typeface="Open Sans"/>
                <a:sym typeface="Open Sans"/>
              </a:rPr>
              <a:t>experience, </a:t>
            </a:r>
            <a:endParaRPr sz="2165">
              <a:solidFill>
                <a:srgbClr val="443728"/>
              </a:solidFill>
              <a:latin typeface="Open Sans"/>
              <a:ea typeface="Open Sans"/>
              <a:cs typeface="Open Sans"/>
              <a:sym typeface="Open Sans"/>
            </a:endParaRPr>
          </a:p>
          <a:p>
            <a:pPr indent="-366094" lvl="0" marL="457200" marR="0" rtl="0" algn="l">
              <a:lnSpc>
                <a:spcPct val="160000"/>
              </a:lnSpc>
              <a:spcBef>
                <a:spcPts val="0"/>
              </a:spcBef>
              <a:spcAft>
                <a:spcPts val="0"/>
              </a:spcAft>
              <a:buClr>
                <a:srgbClr val="443728"/>
              </a:buClr>
              <a:buSzPts val="2165"/>
              <a:buFont typeface="Open Sans"/>
              <a:buChar char="●"/>
            </a:pPr>
            <a:r>
              <a:rPr lang="en-US" sz="2165">
                <a:solidFill>
                  <a:srgbClr val="443728"/>
                </a:solidFill>
                <a:latin typeface="Open Sans"/>
                <a:ea typeface="Open Sans"/>
                <a:cs typeface="Open Sans"/>
                <a:sym typeface="Open Sans"/>
              </a:rPr>
              <a:t>qualification, </a:t>
            </a:r>
            <a:endParaRPr sz="2165">
              <a:solidFill>
                <a:srgbClr val="443728"/>
              </a:solidFill>
              <a:latin typeface="Open Sans"/>
              <a:ea typeface="Open Sans"/>
              <a:cs typeface="Open Sans"/>
              <a:sym typeface="Open Sans"/>
            </a:endParaRPr>
          </a:p>
          <a:p>
            <a:pPr indent="-366094" lvl="0" marL="457200" marR="0" rtl="0" algn="l">
              <a:lnSpc>
                <a:spcPct val="160000"/>
              </a:lnSpc>
              <a:spcBef>
                <a:spcPts val="0"/>
              </a:spcBef>
              <a:spcAft>
                <a:spcPts val="0"/>
              </a:spcAft>
              <a:buClr>
                <a:srgbClr val="443728"/>
              </a:buClr>
              <a:buSzPts val="2165"/>
              <a:buFont typeface="Open Sans"/>
              <a:buChar char="●"/>
            </a:pPr>
            <a:r>
              <a:rPr lang="en-US" sz="2165">
                <a:solidFill>
                  <a:srgbClr val="443728"/>
                </a:solidFill>
                <a:latin typeface="Open Sans"/>
                <a:ea typeface="Open Sans"/>
                <a:cs typeface="Open Sans"/>
                <a:sym typeface="Open Sans"/>
              </a:rPr>
              <a:t>job title, </a:t>
            </a:r>
            <a:endParaRPr sz="2165">
              <a:solidFill>
                <a:srgbClr val="443728"/>
              </a:solidFill>
              <a:latin typeface="Open Sans"/>
              <a:ea typeface="Open Sans"/>
              <a:cs typeface="Open Sans"/>
              <a:sym typeface="Open Sans"/>
            </a:endParaRPr>
          </a:p>
          <a:p>
            <a:pPr indent="-366094" lvl="0" marL="457200" marR="0" rtl="0" algn="l">
              <a:lnSpc>
                <a:spcPct val="160000"/>
              </a:lnSpc>
              <a:spcBef>
                <a:spcPts val="0"/>
              </a:spcBef>
              <a:spcAft>
                <a:spcPts val="0"/>
              </a:spcAft>
              <a:buClr>
                <a:srgbClr val="443728"/>
              </a:buClr>
              <a:buSzPts val="2165"/>
              <a:buFont typeface="Open Sans"/>
              <a:buChar char="●"/>
            </a:pPr>
            <a:r>
              <a:rPr lang="en-US" sz="2165">
                <a:solidFill>
                  <a:srgbClr val="443728"/>
                </a:solidFill>
                <a:latin typeface="Open Sans"/>
                <a:ea typeface="Open Sans"/>
                <a:cs typeface="Open Sans"/>
                <a:sym typeface="Open Sans"/>
              </a:rPr>
              <a:t>skills, </a:t>
            </a:r>
            <a:endParaRPr sz="2165">
              <a:solidFill>
                <a:srgbClr val="443728"/>
              </a:solidFill>
              <a:latin typeface="Open Sans"/>
              <a:ea typeface="Open Sans"/>
              <a:cs typeface="Open Sans"/>
              <a:sym typeface="Open Sans"/>
            </a:endParaRPr>
          </a:p>
          <a:p>
            <a:pPr indent="-366094" lvl="0" marL="457200" marR="0" rtl="0" algn="l">
              <a:lnSpc>
                <a:spcPct val="160000"/>
              </a:lnSpc>
              <a:spcBef>
                <a:spcPts val="0"/>
              </a:spcBef>
              <a:spcAft>
                <a:spcPts val="0"/>
              </a:spcAft>
              <a:buClr>
                <a:srgbClr val="443728"/>
              </a:buClr>
              <a:buSzPts val="2165"/>
              <a:buFont typeface="Open Sans"/>
              <a:buChar char="●"/>
            </a:pPr>
            <a:r>
              <a:rPr lang="en-US" sz="2165">
                <a:solidFill>
                  <a:srgbClr val="443728"/>
                </a:solidFill>
                <a:latin typeface="Open Sans"/>
                <a:ea typeface="Open Sans"/>
                <a:cs typeface="Open Sans"/>
                <a:sym typeface="Open Sans"/>
              </a:rPr>
              <a:t>and responsibilities. </a:t>
            </a:r>
            <a:endParaRPr b="0" i="0" sz="2165" u="none" cap="none" strike="noStrike"/>
          </a:p>
        </p:txBody>
      </p:sp>
      <p:sp>
        <p:nvSpPr>
          <p:cNvPr id="77" name="Google Shape;77;p15"/>
          <p:cNvSpPr/>
          <p:nvPr/>
        </p:nvSpPr>
        <p:spPr>
          <a:xfrm>
            <a:off x="11444100" y="6758975"/>
            <a:ext cx="3186300" cy="1393200"/>
          </a:xfrm>
          <a:prstGeom prst="rect">
            <a:avLst/>
          </a:prstGeom>
          <a:solidFill>
            <a:srgbClr val="FFFCFA"/>
          </a:solidFill>
          <a:ln cap="flat" cmpd="sng" w="9525">
            <a:solidFill>
              <a:srgbClr val="FFFC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p:nvPr/>
        </p:nvSpPr>
        <p:spPr>
          <a:xfrm>
            <a:off x="572013" y="479006"/>
            <a:ext cx="7878600" cy="540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3400"/>
              <a:buFont typeface="Crimson Pro"/>
              <a:buNone/>
            </a:pPr>
            <a:r>
              <a:rPr b="1" i="0" lang="en-US" sz="3900" u="none" cap="none" strike="noStrike">
                <a:solidFill>
                  <a:srgbClr val="443728"/>
                </a:solidFill>
                <a:latin typeface="Crimson Pro"/>
                <a:ea typeface="Crimson Pro"/>
                <a:cs typeface="Crimson Pro"/>
                <a:sym typeface="Crimson Pro"/>
              </a:rPr>
              <a:t>Data Preparation: </a:t>
            </a:r>
            <a:endParaRPr b="0" i="0" sz="3900" u="none" cap="none" strike="noStrike"/>
          </a:p>
        </p:txBody>
      </p:sp>
      <p:sp>
        <p:nvSpPr>
          <p:cNvPr id="84" name="Google Shape;84;p16"/>
          <p:cNvSpPr/>
          <p:nvPr/>
        </p:nvSpPr>
        <p:spPr>
          <a:xfrm>
            <a:off x="643088" y="1406846"/>
            <a:ext cx="7934400" cy="22800"/>
          </a:xfrm>
          <a:prstGeom prst="rect">
            <a:avLst/>
          </a:prstGeom>
          <a:solidFill>
            <a:srgbClr val="835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6"/>
          <p:cNvSpPr/>
          <p:nvPr/>
        </p:nvSpPr>
        <p:spPr>
          <a:xfrm>
            <a:off x="643088" y="1538886"/>
            <a:ext cx="2160300" cy="2700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443728"/>
              </a:buClr>
              <a:buSzPts val="1700"/>
              <a:buFont typeface="Crimson Pro"/>
              <a:buNone/>
            </a:pPr>
            <a:r>
              <a:rPr b="1" i="0" lang="en-US" sz="1700" u="none" cap="none" strike="noStrike">
                <a:solidFill>
                  <a:srgbClr val="443728"/>
                </a:solidFill>
                <a:latin typeface="Crimson Pro"/>
                <a:ea typeface="Crimson Pro"/>
                <a:cs typeface="Crimson Pro"/>
                <a:sym typeface="Crimson Pro"/>
              </a:rPr>
              <a:t>Dataset Downsizing</a:t>
            </a:r>
            <a:endParaRPr b="0" i="0" sz="1700" u="none" cap="none" strike="noStrike"/>
          </a:p>
        </p:txBody>
      </p:sp>
      <p:sp>
        <p:nvSpPr>
          <p:cNvPr id="86" name="Google Shape;86;p16"/>
          <p:cNvSpPr/>
          <p:nvPr/>
        </p:nvSpPr>
        <p:spPr>
          <a:xfrm>
            <a:off x="643088" y="1912386"/>
            <a:ext cx="7934400" cy="55320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443728"/>
              </a:buClr>
              <a:buSzPts val="1350"/>
              <a:buFont typeface="Open Sans"/>
              <a:buNone/>
            </a:pPr>
            <a:r>
              <a:rPr b="0" i="0" lang="en-US" sz="1350" u="none" cap="none" strike="noStrike">
                <a:solidFill>
                  <a:srgbClr val="443728"/>
                </a:solidFill>
                <a:latin typeface="Open Sans"/>
                <a:ea typeface="Open Sans"/>
                <a:cs typeface="Open Sans"/>
                <a:sym typeface="Open Sans"/>
              </a:rPr>
              <a:t>Both resume and job description datasets were initially downsized to the first 10,000 rows to manage computational resources and focus our analysis.</a:t>
            </a:r>
            <a:endParaRPr b="0" i="0" sz="1350" u="none" cap="none" strike="noStrike"/>
          </a:p>
        </p:txBody>
      </p:sp>
      <p:sp>
        <p:nvSpPr>
          <p:cNvPr id="87" name="Google Shape;87;p16"/>
          <p:cNvSpPr/>
          <p:nvPr/>
        </p:nvSpPr>
        <p:spPr>
          <a:xfrm>
            <a:off x="643119" y="2767838"/>
            <a:ext cx="450600" cy="21600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443728"/>
              </a:buClr>
              <a:buSzPts val="1350"/>
              <a:buFont typeface="Crimson Pro"/>
              <a:buNone/>
            </a:pPr>
            <a:r>
              <a:t/>
            </a:r>
            <a:endParaRPr b="0" i="0" sz="1350" u="none" cap="none" strike="noStrike"/>
          </a:p>
        </p:txBody>
      </p:sp>
      <p:sp>
        <p:nvSpPr>
          <p:cNvPr id="88" name="Google Shape;88;p16"/>
          <p:cNvSpPr/>
          <p:nvPr/>
        </p:nvSpPr>
        <p:spPr>
          <a:xfrm>
            <a:off x="643088" y="3038598"/>
            <a:ext cx="7934400" cy="22800"/>
          </a:xfrm>
          <a:prstGeom prst="rect">
            <a:avLst/>
          </a:prstGeom>
          <a:solidFill>
            <a:srgbClr val="835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6"/>
          <p:cNvSpPr/>
          <p:nvPr/>
        </p:nvSpPr>
        <p:spPr>
          <a:xfrm>
            <a:off x="643088" y="3170638"/>
            <a:ext cx="2160300" cy="2700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443728"/>
              </a:buClr>
              <a:buSzPts val="1700"/>
              <a:buFont typeface="Crimson Pro"/>
              <a:buNone/>
            </a:pPr>
            <a:r>
              <a:rPr b="1" i="0" lang="en-US" sz="1700" u="none" cap="none" strike="noStrike">
                <a:solidFill>
                  <a:srgbClr val="443728"/>
                </a:solidFill>
                <a:latin typeface="Crimson Pro"/>
                <a:ea typeface="Crimson Pro"/>
                <a:cs typeface="Crimson Pro"/>
                <a:sym typeface="Crimson Pro"/>
              </a:rPr>
              <a:t>Resume Unification</a:t>
            </a:r>
            <a:endParaRPr b="0" i="0" sz="1700" u="none" cap="none" strike="noStrike"/>
          </a:p>
        </p:txBody>
      </p:sp>
      <p:sp>
        <p:nvSpPr>
          <p:cNvPr id="90" name="Google Shape;90;p16"/>
          <p:cNvSpPr/>
          <p:nvPr/>
        </p:nvSpPr>
        <p:spPr>
          <a:xfrm>
            <a:off x="643088" y="3544137"/>
            <a:ext cx="7934400" cy="55320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443728"/>
              </a:buClr>
              <a:buSzPts val="1350"/>
              <a:buFont typeface="Open Sans"/>
              <a:buNone/>
            </a:pPr>
            <a:r>
              <a:rPr b="0" i="0" lang="en-US" sz="1350" u="none" cap="none" strike="noStrike">
                <a:solidFill>
                  <a:srgbClr val="443728"/>
                </a:solidFill>
                <a:latin typeface="Open Sans"/>
                <a:ea typeface="Open Sans"/>
                <a:cs typeface="Open Sans"/>
                <a:sym typeface="Open Sans"/>
              </a:rPr>
              <a:t>Multiple resume </a:t>
            </a:r>
            <a:r>
              <a:rPr lang="en-US" sz="1350">
                <a:solidFill>
                  <a:srgbClr val="443728"/>
                </a:solidFill>
                <a:latin typeface="Open Sans"/>
                <a:ea typeface="Open Sans"/>
                <a:cs typeface="Open Sans"/>
                <a:sym typeface="Open Sans"/>
              </a:rPr>
              <a:t>csvs</a:t>
            </a:r>
            <a:r>
              <a:rPr b="0" i="0" lang="en-US" sz="1350" u="none" cap="none" strike="noStrike">
                <a:solidFill>
                  <a:srgbClr val="443728"/>
                </a:solidFill>
                <a:latin typeface="Open Sans"/>
                <a:ea typeface="Open Sans"/>
                <a:cs typeface="Open Sans"/>
                <a:sym typeface="Open Sans"/>
              </a:rPr>
              <a:t> were merged into a single, cohesive dataset, ensuring consistency and ease of processing for subsequent steps.</a:t>
            </a:r>
            <a:endParaRPr b="0" i="0" sz="1350" u="none" cap="none" strike="noStrike"/>
          </a:p>
        </p:txBody>
      </p:sp>
      <p:sp>
        <p:nvSpPr>
          <p:cNvPr id="91" name="Google Shape;91;p16"/>
          <p:cNvSpPr/>
          <p:nvPr/>
        </p:nvSpPr>
        <p:spPr>
          <a:xfrm>
            <a:off x="643088" y="4670349"/>
            <a:ext cx="7934400" cy="22800"/>
          </a:xfrm>
          <a:prstGeom prst="rect">
            <a:avLst/>
          </a:prstGeom>
          <a:solidFill>
            <a:srgbClr val="835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p:nvPr/>
        </p:nvSpPr>
        <p:spPr>
          <a:xfrm>
            <a:off x="643088" y="4802390"/>
            <a:ext cx="2160300" cy="2700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443728"/>
              </a:buClr>
              <a:buSzPts val="1700"/>
              <a:buFont typeface="Crimson Pro"/>
              <a:buNone/>
            </a:pPr>
            <a:r>
              <a:rPr b="1" i="0" lang="en-US" sz="1700" u="none" cap="none" strike="noStrike">
                <a:solidFill>
                  <a:srgbClr val="443728"/>
                </a:solidFill>
                <a:latin typeface="Crimson Pro"/>
                <a:ea typeface="Crimson Pro"/>
                <a:cs typeface="Crimson Pro"/>
                <a:sym typeface="Crimson Pro"/>
              </a:rPr>
              <a:t>Domain Filtering</a:t>
            </a:r>
            <a:endParaRPr b="0" i="0" sz="1700" u="none" cap="none" strike="noStrike"/>
          </a:p>
        </p:txBody>
      </p:sp>
      <p:sp>
        <p:nvSpPr>
          <p:cNvPr id="93" name="Google Shape;93;p16"/>
          <p:cNvSpPr/>
          <p:nvPr/>
        </p:nvSpPr>
        <p:spPr>
          <a:xfrm>
            <a:off x="643088" y="5175889"/>
            <a:ext cx="7934400" cy="55320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443728"/>
              </a:buClr>
              <a:buSzPts val="1350"/>
              <a:buFont typeface="Open Sans"/>
              <a:buNone/>
            </a:pPr>
            <a:r>
              <a:rPr b="0" i="0" lang="en-US" sz="1350" u="none" cap="none" strike="noStrike">
                <a:solidFill>
                  <a:srgbClr val="443728"/>
                </a:solidFill>
                <a:latin typeface="Open Sans"/>
                <a:ea typeface="Open Sans"/>
                <a:cs typeface="Open Sans"/>
                <a:sym typeface="Open Sans"/>
              </a:rPr>
              <a:t>To maintain relevance, both datasets were rigorously filtered to include only C</a:t>
            </a:r>
            <a:r>
              <a:rPr lang="en-US" sz="1350">
                <a:solidFill>
                  <a:srgbClr val="443728"/>
                </a:solidFill>
                <a:latin typeface="Open Sans"/>
                <a:ea typeface="Open Sans"/>
                <a:cs typeface="Open Sans"/>
                <a:sym typeface="Open Sans"/>
              </a:rPr>
              <a:t>S </a:t>
            </a:r>
            <a:r>
              <a:rPr b="0" i="0" lang="en-US" sz="1350" u="none" cap="none" strike="noStrike">
                <a:solidFill>
                  <a:srgbClr val="443728"/>
                </a:solidFill>
                <a:latin typeface="Open Sans"/>
                <a:ea typeface="Open Sans"/>
                <a:cs typeface="Open Sans"/>
                <a:sym typeface="Open Sans"/>
              </a:rPr>
              <a:t>and tech-related entries, aligning with the project's scope.</a:t>
            </a:r>
            <a:endParaRPr b="0" i="0" sz="1350" u="none" cap="none" strike="noStrike"/>
          </a:p>
        </p:txBody>
      </p:sp>
      <p:sp>
        <p:nvSpPr>
          <p:cNvPr id="94" name="Google Shape;94;p16"/>
          <p:cNvSpPr/>
          <p:nvPr/>
        </p:nvSpPr>
        <p:spPr>
          <a:xfrm>
            <a:off x="643088" y="6302101"/>
            <a:ext cx="7934400" cy="22800"/>
          </a:xfrm>
          <a:prstGeom prst="rect">
            <a:avLst/>
          </a:prstGeom>
          <a:solidFill>
            <a:srgbClr val="835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6"/>
          <p:cNvSpPr/>
          <p:nvPr/>
        </p:nvSpPr>
        <p:spPr>
          <a:xfrm>
            <a:off x="643088" y="6434141"/>
            <a:ext cx="2160300" cy="2700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443728"/>
              </a:buClr>
              <a:buSzPts val="1700"/>
              <a:buFont typeface="Crimson Pro"/>
              <a:buNone/>
            </a:pPr>
            <a:r>
              <a:rPr b="1" i="0" lang="en-US" sz="1700" u="none" cap="none" strike="noStrike">
                <a:solidFill>
                  <a:srgbClr val="443728"/>
                </a:solidFill>
                <a:latin typeface="Crimson Pro"/>
                <a:ea typeface="Crimson Pro"/>
                <a:cs typeface="Crimson Pro"/>
                <a:sym typeface="Crimson Pro"/>
              </a:rPr>
              <a:t>Final Data Shapes</a:t>
            </a:r>
            <a:endParaRPr b="0" i="0" sz="1700" u="none" cap="none" strike="noStrike"/>
          </a:p>
        </p:txBody>
      </p:sp>
      <p:sp>
        <p:nvSpPr>
          <p:cNvPr id="96" name="Google Shape;96;p16"/>
          <p:cNvSpPr/>
          <p:nvPr/>
        </p:nvSpPr>
        <p:spPr>
          <a:xfrm>
            <a:off x="643088" y="6807640"/>
            <a:ext cx="7934400" cy="55320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443728"/>
              </a:buClr>
              <a:buSzPts val="1350"/>
              <a:buFont typeface="Open Sans"/>
              <a:buNone/>
            </a:pPr>
            <a:r>
              <a:rPr b="0" i="0" lang="en-US" sz="1350" u="none" cap="none" strike="noStrike">
                <a:solidFill>
                  <a:srgbClr val="443728"/>
                </a:solidFill>
                <a:latin typeface="Open Sans"/>
                <a:ea typeface="Open Sans"/>
                <a:cs typeface="Open Sans"/>
                <a:sym typeface="Open Sans"/>
              </a:rPr>
              <a:t>Post-preparation, the datasets achieved their final dimensions: Resumes (</a:t>
            </a:r>
            <a:r>
              <a:rPr b="1" i="0" lang="en-US" sz="1350" u="none" cap="none" strike="noStrike">
                <a:solidFill>
                  <a:srgbClr val="443728"/>
                </a:solidFill>
                <a:latin typeface="Open Sans"/>
                <a:ea typeface="Open Sans"/>
                <a:cs typeface="Open Sans"/>
                <a:sym typeface="Open Sans"/>
              </a:rPr>
              <a:t>7856 × 5</a:t>
            </a:r>
            <a:r>
              <a:rPr b="0" i="0" lang="en-US" sz="1350" u="none" cap="none" strike="noStrike">
                <a:solidFill>
                  <a:srgbClr val="443728"/>
                </a:solidFill>
                <a:latin typeface="Open Sans"/>
                <a:ea typeface="Open Sans"/>
                <a:cs typeface="Open Sans"/>
                <a:sym typeface="Open Sans"/>
              </a:rPr>
              <a:t> rows/columns) and Job Descriptions (</a:t>
            </a:r>
            <a:r>
              <a:rPr b="1" i="0" lang="en-US" sz="1350" u="none" cap="none" strike="noStrike">
                <a:solidFill>
                  <a:srgbClr val="443728"/>
                </a:solidFill>
                <a:latin typeface="Open Sans"/>
                <a:ea typeface="Open Sans"/>
                <a:cs typeface="Open Sans"/>
                <a:sym typeface="Open Sans"/>
              </a:rPr>
              <a:t>3217 × 6</a:t>
            </a:r>
            <a:r>
              <a:rPr b="0" i="0" lang="en-US" sz="1350" u="none" cap="none" strike="noStrike">
                <a:solidFill>
                  <a:srgbClr val="443728"/>
                </a:solidFill>
                <a:latin typeface="Open Sans"/>
                <a:ea typeface="Open Sans"/>
                <a:cs typeface="Open Sans"/>
                <a:sym typeface="Open Sans"/>
              </a:rPr>
              <a:t> rows/columns).</a:t>
            </a:r>
            <a:endParaRPr b="0" i="0" sz="1350" u="none" cap="none" strike="noStrike"/>
          </a:p>
        </p:txBody>
      </p:sp>
      <p:sp>
        <p:nvSpPr>
          <p:cNvPr id="97" name="Google Shape;97;p16"/>
          <p:cNvSpPr/>
          <p:nvPr/>
        </p:nvSpPr>
        <p:spPr>
          <a:xfrm>
            <a:off x="12102025" y="7800350"/>
            <a:ext cx="2475300" cy="334800"/>
          </a:xfrm>
          <a:prstGeom prst="rect">
            <a:avLst/>
          </a:prstGeom>
          <a:solidFill>
            <a:srgbClr val="FFFC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Data analysis, SEO analysis, big data research, website analytics concept with people, graphs and charts illustration (Provided by Getty Images)" id="98" name="Google Shape;98;p16"/>
          <p:cNvPicPr preferRelativeResize="0"/>
          <p:nvPr/>
        </p:nvPicPr>
        <p:blipFill>
          <a:blip r:embed="rId3">
            <a:alphaModFix/>
          </a:blip>
          <a:stretch>
            <a:fillRect/>
          </a:stretch>
        </p:blipFill>
        <p:spPr>
          <a:xfrm>
            <a:off x="9156200" y="1877700"/>
            <a:ext cx="5287675" cy="4338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p:nvPr/>
        </p:nvSpPr>
        <p:spPr>
          <a:xfrm>
            <a:off x="599206" y="992576"/>
            <a:ext cx="10095600" cy="59310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443728"/>
              </a:buClr>
              <a:buSzPts val="3700"/>
              <a:buFont typeface="Crimson Pro"/>
              <a:buNone/>
            </a:pPr>
            <a:r>
              <a:rPr b="1" i="0" lang="en-US" sz="3700" u="none" cap="none" strike="noStrike">
                <a:solidFill>
                  <a:srgbClr val="443728"/>
                </a:solidFill>
                <a:latin typeface="Crimson Pro"/>
                <a:ea typeface="Crimson Pro"/>
                <a:cs typeface="Crimson Pro"/>
                <a:sym typeface="Crimson Pro"/>
              </a:rPr>
              <a:t>Embedding-Based Filtering: Identifying Relevance</a:t>
            </a:r>
            <a:endParaRPr b="0" i="0" sz="3700" u="none" cap="none" strike="noStrike"/>
          </a:p>
        </p:txBody>
      </p:sp>
      <p:sp>
        <p:nvSpPr>
          <p:cNvPr id="105" name="Google Shape;105;p17"/>
          <p:cNvSpPr/>
          <p:nvPr/>
        </p:nvSpPr>
        <p:spPr>
          <a:xfrm>
            <a:off x="599199" y="2219501"/>
            <a:ext cx="9168900" cy="714000"/>
          </a:xfrm>
          <a:prstGeom prst="rect">
            <a:avLst/>
          </a:prstGeom>
          <a:noFill/>
          <a:ln>
            <a:noFill/>
          </a:ln>
        </p:spPr>
        <p:txBody>
          <a:bodyPr anchorCtr="0" anchor="t" bIns="0" lIns="0" spcFirstLastPara="1" rIns="0" wrap="square" tIns="0">
            <a:noAutofit/>
          </a:bodyPr>
          <a:lstStyle/>
          <a:p>
            <a:pPr indent="-336887" lvl="0" marL="457200" marR="0" rtl="0" algn="l">
              <a:lnSpc>
                <a:spcPct val="162068"/>
              </a:lnSpc>
              <a:spcBef>
                <a:spcPts val="0"/>
              </a:spcBef>
              <a:spcAft>
                <a:spcPts val="0"/>
              </a:spcAft>
              <a:buClr>
                <a:srgbClr val="443728"/>
              </a:buClr>
              <a:buSzPts val="1705"/>
              <a:buFont typeface="Open Sans"/>
              <a:buChar char="●"/>
            </a:pPr>
            <a:r>
              <a:rPr b="0" i="0" lang="en-US" sz="1705" u="none" cap="none" strike="noStrike">
                <a:solidFill>
                  <a:srgbClr val="443728"/>
                </a:solidFill>
                <a:latin typeface="Open Sans"/>
                <a:ea typeface="Open Sans"/>
                <a:cs typeface="Open Sans"/>
                <a:sym typeface="Open Sans"/>
              </a:rPr>
              <a:t>To accurately assess the relevance of resumes and job descriptions, we </a:t>
            </a:r>
            <a:r>
              <a:rPr lang="en-US" sz="1705">
                <a:solidFill>
                  <a:srgbClr val="443728"/>
                </a:solidFill>
                <a:latin typeface="Open Sans"/>
                <a:ea typeface="Open Sans"/>
                <a:cs typeface="Open Sans"/>
                <a:sym typeface="Open Sans"/>
              </a:rPr>
              <a:t>used</a:t>
            </a:r>
            <a:r>
              <a:rPr b="0" i="0" lang="en-US" sz="1705" u="none" cap="none" strike="noStrike">
                <a:solidFill>
                  <a:srgbClr val="443728"/>
                </a:solidFill>
                <a:latin typeface="Open Sans"/>
                <a:ea typeface="Open Sans"/>
                <a:cs typeface="Open Sans"/>
                <a:sym typeface="Open Sans"/>
              </a:rPr>
              <a:t> advanced natural language processing techniques.</a:t>
            </a:r>
            <a:endParaRPr b="0" i="0" sz="1705" u="none" cap="none" strike="noStrike"/>
          </a:p>
        </p:txBody>
      </p:sp>
      <p:sp>
        <p:nvSpPr>
          <p:cNvPr id="106" name="Google Shape;106;p17"/>
          <p:cNvSpPr/>
          <p:nvPr/>
        </p:nvSpPr>
        <p:spPr>
          <a:xfrm>
            <a:off x="599199" y="3134438"/>
            <a:ext cx="9168900" cy="714000"/>
          </a:xfrm>
          <a:prstGeom prst="rect">
            <a:avLst/>
          </a:prstGeom>
          <a:noFill/>
          <a:ln>
            <a:noFill/>
          </a:ln>
        </p:spPr>
        <p:txBody>
          <a:bodyPr anchorCtr="0" anchor="t" bIns="0" lIns="0" spcFirstLastPara="1" rIns="0" wrap="square" tIns="0">
            <a:noAutofit/>
          </a:bodyPr>
          <a:lstStyle/>
          <a:p>
            <a:pPr indent="-336887" lvl="0" marL="457200" marR="0" rtl="0" algn="l">
              <a:lnSpc>
                <a:spcPct val="162069"/>
              </a:lnSpc>
              <a:spcBef>
                <a:spcPts val="0"/>
              </a:spcBef>
              <a:spcAft>
                <a:spcPts val="0"/>
              </a:spcAft>
              <a:buClr>
                <a:srgbClr val="443728"/>
              </a:buClr>
              <a:buSzPts val="1705"/>
              <a:buFont typeface="Open Sans"/>
              <a:buChar char="●"/>
            </a:pPr>
            <a:r>
              <a:rPr i="0" lang="en-US" sz="1705" u="none" cap="none" strike="noStrike">
                <a:solidFill>
                  <a:srgbClr val="443728"/>
                </a:solidFill>
                <a:latin typeface="Open Sans"/>
                <a:ea typeface="Open Sans"/>
                <a:cs typeface="Open Sans"/>
                <a:sym typeface="Open Sans"/>
              </a:rPr>
              <a:t>Sentence Transformers were </a:t>
            </a:r>
            <a:r>
              <a:rPr lang="en-US" sz="1705">
                <a:solidFill>
                  <a:srgbClr val="443728"/>
                </a:solidFill>
                <a:latin typeface="Open Sans"/>
                <a:ea typeface="Open Sans"/>
                <a:cs typeface="Open Sans"/>
                <a:sym typeface="Open Sans"/>
              </a:rPr>
              <a:t>used</a:t>
            </a:r>
            <a:r>
              <a:rPr i="0" lang="en-US" sz="1705" u="none" cap="none" strike="noStrike">
                <a:solidFill>
                  <a:srgbClr val="443728"/>
                </a:solidFill>
                <a:latin typeface="Open Sans"/>
                <a:ea typeface="Open Sans"/>
                <a:cs typeface="Open Sans"/>
                <a:sym typeface="Open Sans"/>
              </a:rPr>
              <a:t> to generate high-dimensional text embeddings, </a:t>
            </a:r>
            <a:r>
              <a:rPr lang="en-US" sz="1705">
                <a:solidFill>
                  <a:srgbClr val="443728"/>
                </a:solidFill>
                <a:latin typeface="Open Sans"/>
                <a:ea typeface="Open Sans"/>
                <a:cs typeface="Open Sans"/>
                <a:sym typeface="Open Sans"/>
              </a:rPr>
              <a:t>filtering</a:t>
            </a:r>
            <a:r>
              <a:rPr i="0" lang="en-US" sz="1705" u="none" cap="none" strike="noStrike">
                <a:solidFill>
                  <a:srgbClr val="443728"/>
                </a:solidFill>
                <a:latin typeface="Open Sans"/>
                <a:ea typeface="Open Sans"/>
                <a:cs typeface="Open Sans"/>
                <a:sym typeface="Open Sans"/>
              </a:rPr>
              <a:t> semantic </a:t>
            </a:r>
            <a:r>
              <a:rPr lang="en-US" sz="1705">
                <a:solidFill>
                  <a:srgbClr val="443728"/>
                </a:solidFill>
                <a:latin typeface="Open Sans"/>
                <a:ea typeface="Open Sans"/>
                <a:cs typeface="Open Sans"/>
                <a:sym typeface="Open Sans"/>
              </a:rPr>
              <a:t>text using reference</a:t>
            </a:r>
            <a:r>
              <a:rPr lang="en-US" sz="1705">
                <a:solidFill>
                  <a:srgbClr val="443728"/>
                </a:solidFill>
                <a:latin typeface="Open Sans"/>
                <a:ea typeface="Open Sans"/>
                <a:cs typeface="Open Sans"/>
                <a:sym typeface="Open Sans"/>
              </a:rPr>
              <a:t> vectors were crafted from CS job titles and a list of CS-related keywords.</a:t>
            </a:r>
            <a:endParaRPr sz="1705">
              <a:solidFill>
                <a:schemeClr val="dk1"/>
              </a:solidFill>
            </a:endParaRPr>
          </a:p>
          <a:p>
            <a:pPr indent="0" lvl="0" marL="0" marR="0" rtl="0" algn="l">
              <a:lnSpc>
                <a:spcPct val="162068"/>
              </a:lnSpc>
              <a:spcBef>
                <a:spcPts val="0"/>
              </a:spcBef>
              <a:spcAft>
                <a:spcPts val="0"/>
              </a:spcAft>
              <a:buNone/>
            </a:pPr>
            <a:r>
              <a:t/>
            </a:r>
            <a:endParaRPr sz="1705">
              <a:solidFill>
                <a:srgbClr val="443728"/>
              </a:solidFill>
              <a:latin typeface="Open Sans"/>
              <a:ea typeface="Open Sans"/>
              <a:cs typeface="Open Sans"/>
              <a:sym typeface="Open Sans"/>
            </a:endParaRPr>
          </a:p>
        </p:txBody>
      </p:sp>
      <p:sp>
        <p:nvSpPr>
          <p:cNvPr id="107" name="Google Shape;107;p17"/>
          <p:cNvSpPr/>
          <p:nvPr/>
        </p:nvSpPr>
        <p:spPr>
          <a:xfrm>
            <a:off x="599199" y="4604980"/>
            <a:ext cx="9168900" cy="714000"/>
          </a:xfrm>
          <a:prstGeom prst="rect">
            <a:avLst/>
          </a:prstGeom>
          <a:noFill/>
          <a:ln>
            <a:noFill/>
          </a:ln>
        </p:spPr>
        <p:txBody>
          <a:bodyPr anchorCtr="0" anchor="t" bIns="0" lIns="0" spcFirstLastPara="1" rIns="0" wrap="square" tIns="0">
            <a:noAutofit/>
          </a:bodyPr>
          <a:lstStyle/>
          <a:p>
            <a:pPr indent="-336887" lvl="0" marL="457200" marR="0" rtl="0" algn="l">
              <a:lnSpc>
                <a:spcPct val="162068"/>
              </a:lnSpc>
              <a:spcBef>
                <a:spcPts val="0"/>
              </a:spcBef>
              <a:spcAft>
                <a:spcPts val="0"/>
              </a:spcAft>
              <a:buClr>
                <a:srgbClr val="443728"/>
              </a:buClr>
              <a:buSzPts val="1705"/>
              <a:buFont typeface="Open Sans"/>
              <a:buChar char="●"/>
            </a:pPr>
            <a:r>
              <a:rPr i="0" lang="en-US" sz="1705" u="none" cap="none" strike="noStrike">
                <a:solidFill>
                  <a:srgbClr val="443728"/>
                </a:solidFill>
                <a:latin typeface="Open Sans"/>
                <a:ea typeface="Open Sans"/>
                <a:cs typeface="Open Sans"/>
                <a:sym typeface="Open Sans"/>
              </a:rPr>
              <a:t>Cosine similarity was then computed between document embeddings and reference vectors to quantify relevance.</a:t>
            </a:r>
            <a:endParaRPr i="0" sz="1705" u="none" cap="none" strike="noStrike"/>
          </a:p>
        </p:txBody>
      </p:sp>
      <p:sp>
        <p:nvSpPr>
          <p:cNvPr id="108" name="Google Shape;108;p17"/>
          <p:cNvSpPr/>
          <p:nvPr/>
        </p:nvSpPr>
        <p:spPr>
          <a:xfrm>
            <a:off x="599199" y="5510837"/>
            <a:ext cx="9168900" cy="714000"/>
          </a:xfrm>
          <a:prstGeom prst="rect">
            <a:avLst/>
          </a:prstGeom>
          <a:noFill/>
          <a:ln>
            <a:noFill/>
          </a:ln>
        </p:spPr>
        <p:txBody>
          <a:bodyPr anchorCtr="0" anchor="t" bIns="0" lIns="0" spcFirstLastPara="1" rIns="0" wrap="square" tIns="0">
            <a:noAutofit/>
          </a:bodyPr>
          <a:lstStyle/>
          <a:p>
            <a:pPr indent="-336887" lvl="0" marL="457200" marR="0" rtl="0" algn="l">
              <a:lnSpc>
                <a:spcPct val="162068"/>
              </a:lnSpc>
              <a:spcBef>
                <a:spcPts val="0"/>
              </a:spcBef>
              <a:spcAft>
                <a:spcPts val="0"/>
              </a:spcAft>
              <a:buClr>
                <a:srgbClr val="443728"/>
              </a:buClr>
              <a:buSzPts val="1705"/>
              <a:buFont typeface="Open Sans"/>
              <a:buChar char="●"/>
            </a:pPr>
            <a:r>
              <a:rPr i="0" lang="en-US" sz="1705" u="none" cap="none" strike="noStrike">
                <a:solidFill>
                  <a:srgbClr val="443728"/>
                </a:solidFill>
                <a:latin typeface="Open Sans"/>
                <a:ea typeface="Open Sans"/>
                <a:cs typeface="Open Sans"/>
                <a:sym typeface="Open Sans"/>
              </a:rPr>
              <a:t>A 37.5% similarity threshold was applied to precisely select only highly tech-relevant entries for further analysis.</a:t>
            </a:r>
            <a:endParaRPr i="0" sz="1705" u="none" cap="none" strike="noStrike"/>
          </a:p>
        </p:txBody>
      </p:sp>
      <p:sp>
        <p:nvSpPr>
          <p:cNvPr id="109" name="Google Shape;109;p17"/>
          <p:cNvSpPr/>
          <p:nvPr/>
        </p:nvSpPr>
        <p:spPr>
          <a:xfrm>
            <a:off x="12102025" y="7800350"/>
            <a:ext cx="2475300" cy="334800"/>
          </a:xfrm>
          <a:prstGeom prst="rect">
            <a:avLst/>
          </a:prstGeom>
          <a:solidFill>
            <a:srgbClr val="FFFC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Scheme of level of skills, climb on stairs to success and achievement, diagram steps in business. Title and competence of person. Beginner, medium, advanced, professional, master. Vector illustration (Provided by Getty Images)" id="110" name="Google Shape;110;p17"/>
          <p:cNvPicPr preferRelativeResize="0"/>
          <p:nvPr/>
        </p:nvPicPr>
        <p:blipFill>
          <a:blip r:embed="rId3">
            <a:alphaModFix/>
          </a:blip>
          <a:stretch>
            <a:fillRect/>
          </a:stretch>
        </p:blipFill>
        <p:spPr>
          <a:xfrm>
            <a:off x="10084402" y="2365576"/>
            <a:ext cx="3765571" cy="3136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p:nvPr/>
        </p:nvSpPr>
        <p:spPr>
          <a:xfrm>
            <a:off x="481099" y="838425"/>
            <a:ext cx="5532300" cy="487500"/>
          </a:xfrm>
          <a:prstGeom prst="rect">
            <a:avLst/>
          </a:prstGeom>
          <a:noFill/>
          <a:ln>
            <a:noFill/>
          </a:ln>
        </p:spPr>
        <p:txBody>
          <a:bodyPr anchorCtr="0" anchor="t" bIns="0" lIns="0" spcFirstLastPara="1" rIns="0" wrap="square" tIns="0">
            <a:noAutofit/>
          </a:bodyPr>
          <a:lstStyle/>
          <a:p>
            <a:pPr indent="0" lvl="0" marL="0" marR="0" rtl="0" algn="l">
              <a:lnSpc>
                <a:spcPct val="124590"/>
              </a:lnSpc>
              <a:spcBef>
                <a:spcPts val="0"/>
              </a:spcBef>
              <a:spcAft>
                <a:spcPts val="0"/>
              </a:spcAft>
              <a:buClr>
                <a:srgbClr val="443728"/>
              </a:buClr>
              <a:buSzPts val="3050"/>
              <a:buFont typeface="Crimson Pro"/>
              <a:buNone/>
            </a:pPr>
            <a:r>
              <a:rPr b="1" i="0" lang="en-US" sz="3550" u="none" cap="none" strike="noStrike">
                <a:solidFill>
                  <a:srgbClr val="443728"/>
                </a:solidFill>
                <a:latin typeface="Crimson Pro"/>
                <a:ea typeface="Crimson Pro"/>
                <a:cs typeface="Crimson Pro"/>
                <a:sym typeface="Crimson Pro"/>
              </a:rPr>
              <a:t>Generating Binary Interview Labels with Gemini</a:t>
            </a:r>
            <a:endParaRPr b="0" i="0" sz="3550" u="none" cap="none" strike="noStrike"/>
          </a:p>
        </p:txBody>
      </p:sp>
      <p:sp>
        <p:nvSpPr>
          <p:cNvPr id="117" name="Google Shape;117;p18"/>
          <p:cNvSpPr/>
          <p:nvPr/>
        </p:nvSpPr>
        <p:spPr>
          <a:xfrm>
            <a:off x="395775" y="2609525"/>
            <a:ext cx="7878900" cy="903000"/>
          </a:xfrm>
          <a:prstGeom prst="rect">
            <a:avLst/>
          </a:prstGeom>
          <a:noFill/>
          <a:ln>
            <a:noFill/>
          </a:ln>
        </p:spPr>
        <p:txBody>
          <a:bodyPr anchorCtr="0" anchor="t" bIns="0" lIns="0" spcFirstLastPara="1" rIns="0" wrap="square" tIns="0">
            <a:noAutofit/>
          </a:bodyPr>
          <a:lstStyle/>
          <a:p>
            <a:pPr indent="-324944" lvl="0" marL="457200" marR="0" rtl="0" algn="l">
              <a:lnSpc>
                <a:spcPct val="162500"/>
              </a:lnSpc>
              <a:spcBef>
                <a:spcPts val="0"/>
              </a:spcBef>
              <a:spcAft>
                <a:spcPts val="0"/>
              </a:spcAft>
              <a:buClr>
                <a:srgbClr val="443728"/>
              </a:buClr>
              <a:buSzPts val="1517"/>
              <a:buFont typeface="Open Sans"/>
              <a:buChar char="●"/>
            </a:pPr>
            <a:r>
              <a:rPr b="0" i="0" lang="en-US" sz="1517" u="none" cap="none" strike="noStrike">
                <a:solidFill>
                  <a:srgbClr val="443728"/>
                </a:solidFill>
                <a:latin typeface="Open Sans"/>
                <a:ea typeface="Open Sans"/>
                <a:cs typeface="Open Sans"/>
                <a:sym typeface="Open Sans"/>
              </a:rPr>
              <a:t>To train our initial classification model, we generated binary interview labels using </a:t>
            </a:r>
            <a:r>
              <a:rPr lang="en-US" sz="1517">
                <a:solidFill>
                  <a:srgbClr val="443728"/>
                </a:solidFill>
                <a:latin typeface="Open Sans"/>
                <a:ea typeface="Open Sans"/>
                <a:cs typeface="Open Sans"/>
                <a:sym typeface="Open Sans"/>
              </a:rPr>
              <a:t>an LLM like Gemini.</a:t>
            </a:r>
            <a:endParaRPr b="0" i="0" sz="1517" u="none" cap="none" strike="noStrike"/>
          </a:p>
        </p:txBody>
      </p:sp>
      <p:sp>
        <p:nvSpPr>
          <p:cNvPr id="118" name="Google Shape;118;p18"/>
          <p:cNvSpPr/>
          <p:nvPr/>
        </p:nvSpPr>
        <p:spPr>
          <a:xfrm>
            <a:off x="395775" y="3404071"/>
            <a:ext cx="7878900" cy="451200"/>
          </a:xfrm>
          <a:prstGeom prst="rect">
            <a:avLst/>
          </a:prstGeom>
          <a:noFill/>
          <a:ln>
            <a:noFill/>
          </a:ln>
        </p:spPr>
        <p:txBody>
          <a:bodyPr anchorCtr="0" anchor="t" bIns="0" lIns="0" spcFirstLastPara="1" rIns="0" wrap="square" tIns="0">
            <a:noAutofit/>
          </a:bodyPr>
          <a:lstStyle/>
          <a:p>
            <a:pPr indent="-324944" lvl="0" marL="457200" marR="0" rtl="0" algn="l">
              <a:lnSpc>
                <a:spcPct val="162500"/>
              </a:lnSpc>
              <a:spcBef>
                <a:spcPts val="0"/>
              </a:spcBef>
              <a:spcAft>
                <a:spcPts val="0"/>
              </a:spcAft>
              <a:buClr>
                <a:srgbClr val="443728"/>
              </a:buClr>
              <a:buSzPts val="1517"/>
              <a:buFont typeface="Open Sans"/>
              <a:buChar char="●"/>
            </a:pPr>
            <a:r>
              <a:rPr i="0" lang="en-US" sz="1517" u="none" cap="none" strike="noStrike">
                <a:solidFill>
                  <a:srgbClr val="443728"/>
                </a:solidFill>
                <a:latin typeface="Open Sans"/>
                <a:ea typeface="Open Sans"/>
                <a:cs typeface="Open Sans"/>
                <a:sym typeface="Open Sans"/>
              </a:rPr>
              <a:t>We utilized the Gemini 2.5 Flash Lite model for its efficiency and accuracy in contextual understanding.</a:t>
            </a:r>
            <a:endParaRPr sz="1517">
              <a:solidFill>
                <a:srgbClr val="443728"/>
              </a:solidFill>
              <a:latin typeface="Open Sans"/>
              <a:ea typeface="Open Sans"/>
              <a:cs typeface="Open Sans"/>
              <a:sym typeface="Open Sans"/>
            </a:endParaRPr>
          </a:p>
        </p:txBody>
      </p:sp>
      <p:sp>
        <p:nvSpPr>
          <p:cNvPr id="119" name="Google Shape;119;p18"/>
          <p:cNvSpPr/>
          <p:nvPr/>
        </p:nvSpPr>
        <p:spPr>
          <a:xfrm>
            <a:off x="395775" y="4189509"/>
            <a:ext cx="7878900" cy="903000"/>
          </a:xfrm>
          <a:prstGeom prst="rect">
            <a:avLst/>
          </a:prstGeom>
          <a:noFill/>
          <a:ln>
            <a:noFill/>
          </a:ln>
        </p:spPr>
        <p:txBody>
          <a:bodyPr anchorCtr="0" anchor="t" bIns="0" lIns="0" spcFirstLastPara="1" rIns="0" wrap="square" tIns="0">
            <a:noAutofit/>
          </a:bodyPr>
          <a:lstStyle/>
          <a:p>
            <a:pPr indent="-324944" lvl="0" marL="457200" marR="0" rtl="0" algn="l">
              <a:lnSpc>
                <a:spcPct val="162500"/>
              </a:lnSpc>
              <a:spcBef>
                <a:spcPts val="0"/>
              </a:spcBef>
              <a:spcAft>
                <a:spcPts val="0"/>
              </a:spcAft>
              <a:buClr>
                <a:srgbClr val="443728"/>
              </a:buClr>
              <a:buSzPts val="1517"/>
              <a:buFont typeface="Open Sans"/>
              <a:buChar char="●"/>
            </a:pPr>
            <a:r>
              <a:rPr b="0" i="0" lang="en-US" sz="1517" u="none" cap="none" strike="noStrike">
                <a:solidFill>
                  <a:srgbClr val="443728"/>
                </a:solidFill>
                <a:latin typeface="Open Sans"/>
                <a:ea typeface="Open Sans"/>
                <a:cs typeface="Open Sans"/>
                <a:sym typeface="Open Sans"/>
              </a:rPr>
              <a:t>The model's prompt was designed to return a binary outcome: </a:t>
            </a:r>
            <a:r>
              <a:rPr b="1" i="0" lang="en-US" sz="1517" u="none" cap="none" strike="noStrike">
                <a:solidFill>
                  <a:srgbClr val="443728"/>
                </a:solidFill>
                <a:latin typeface="Open Sans"/>
                <a:ea typeface="Open Sans"/>
                <a:cs typeface="Open Sans"/>
                <a:sym typeface="Open Sans"/>
              </a:rPr>
              <a:t>1</a:t>
            </a:r>
            <a:r>
              <a:rPr b="0" i="0" lang="en-US" sz="1517" u="none" cap="none" strike="noStrike">
                <a:solidFill>
                  <a:srgbClr val="443728"/>
                </a:solidFill>
                <a:latin typeface="Open Sans"/>
                <a:ea typeface="Open Sans"/>
                <a:cs typeface="Open Sans"/>
                <a:sym typeface="Open Sans"/>
              </a:rPr>
              <a:t> if the applicant "gets an interview," and </a:t>
            </a:r>
            <a:r>
              <a:rPr b="1" i="0" lang="en-US" sz="1517" u="none" cap="none" strike="noStrike">
                <a:solidFill>
                  <a:srgbClr val="443728"/>
                </a:solidFill>
                <a:latin typeface="Open Sans"/>
                <a:ea typeface="Open Sans"/>
                <a:cs typeface="Open Sans"/>
                <a:sym typeface="Open Sans"/>
              </a:rPr>
              <a:t>0</a:t>
            </a:r>
            <a:r>
              <a:rPr b="0" i="0" lang="en-US" sz="1517" u="none" cap="none" strike="noStrike">
                <a:solidFill>
                  <a:srgbClr val="443728"/>
                </a:solidFill>
                <a:latin typeface="Open Sans"/>
                <a:ea typeface="Open Sans"/>
                <a:cs typeface="Open Sans"/>
                <a:sym typeface="Open Sans"/>
              </a:rPr>
              <a:t> if they "do not get an interview."</a:t>
            </a:r>
            <a:endParaRPr b="0" i="0" sz="1517" u="none" cap="none" strike="noStrike"/>
          </a:p>
        </p:txBody>
      </p:sp>
      <p:sp>
        <p:nvSpPr>
          <p:cNvPr id="120" name="Google Shape;120;p18"/>
          <p:cNvSpPr/>
          <p:nvPr/>
        </p:nvSpPr>
        <p:spPr>
          <a:xfrm>
            <a:off x="423575" y="5050774"/>
            <a:ext cx="7878900" cy="903000"/>
          </a:xfrm>
          <a:prstGeom prst="rect">
            <a:avLst/>
          </a:prstGeom>
          <a:noFill/>
          <a:ln>
            <a:noFill/>
          </a:ln>
        </p:spPr>
        <p:txBody>
          <a:bodyPr anchorCtr="0" anchor="t" bIns="0" lIns="0" spcFirstLastPara="1" rIns="0" wrap="square" tIns="0">
            <a:noAutofit/>
          </a:bodyPr>
          <a:lstStyle/>
          <a:p>
            <a:pPr indent="-324944" lvl="0" marL="457200" marR="0" rtl="0" algn="l">
              <a:lnSpc>
                <a:spcPct val="162500"/>
              </a:lnSpc>
              <a:spcBef>
                <a:spcPts val="0"/>
              </a:spcBef>
              <a:spcAft>
                <a:spcPts val="0"/>
              </a:spcAft>
              <a:buClr>
                <a:srgbClr val="443728"/>
              </a:buClr>
              <a:buSzPts val="1517"/>
              <a:buFont typeface="Open Sans"/>
              <a:buChar char="●"/>
            </a:pPr>
            <a:r>
              <a:rPr i="0" lang="en-US" sz="1517" u="none" cap="none" strike="noStrike">
                <a:solidFill>
                  <a:srgbClr val="443728"/>
                </a:solidFill>
                <a:latin typeface="Open Sans"/>
                <a:ea typeface="Open Sans"/>
                <a:cs typeface="Open Sans"/>
                <a:sym typeface="Open Sans"/>
              </a:rPr>
              <a:t>A subset of top 2</a:t>
            </a:r>
            <a:r>
              <a:rPr lang="en-US" sz="1517">
                <a:solidFill>
                  <a:srgbClr val="443728"/>
                </a:solidFill>
                <a:latin typeface="Open Sans"/>
                <a:ea typeface="Open Sans"/>
                <a:cs typeface="Open Sans"/>
                <a:sym typeface="Open Sans"/>
              </a:rPr>
              <a:t>5</a:t>
            </a:r>
            <a:r>
              <a:rPr i="0" lang="en-US" sz="1517" u="none" cap="none" strike="noStrike">
                <a:solidFill>
                  <a:srgbClr val="443728"/>
                </a:solidFill>
                <a:latin typeface="Open Sans"/>
                <a:ea typeface="Open Sans"/>
                <a:cs typeface="Open Sans"/>
                <a:sym typeface="Open Sans"/>
              </a:rPr>
              <a:t> resumes and top </a:t>
            </a:r>
            <a:r>
              <a:rPr lang="en-US" sz="1517">
                <a:solidFill>
                  <a:srgbClr val="443728"/>
                </a:solidFill>
                <a:latin typeface="Open Sans"/>
                <a:ea typeface="Open Sans"/>
                <a:cs typeface="Open Sans"/>
                <a:sym typeface="Open Sans"/>
              </a:rPr>
              <a:t>50</a:t>
            </a:r>
            <a:r>
              <a:rPr i="0" lang="en-US" sz="1517" u="none" cap="none" strike="noStrike">
                <a:solidFill>
                  <a:srgbClr val="443728"/>
                </a:solidFill>
                <a:latin typeface="Open Sans"/>
                <a:ea typeface="Open Sans"/>
                <a:cs typeface="Open Sans"/>
                <a:sym typeface="Open Sans"/>
              </a:rPr>
              <a:t> job descriptions was selected, resulting in </a:t>
            </a:r>
            <a:r>
              <a:rPr lang="en-US" sz="1517">
                <a:solidFill>
                  <a:srgbClr val="443728"/>
                </a:solidFill>
                <a:latin typeface="Open Sans"/>
                <a:ea typeface="Open Sans"/>
                <a:cs typeface="Open Sans"/>
                <a:sym typeface="Open Sans"/>
              </a:rPr>
              <a:t>1250</a:t>
            </a:r>
            <a:r>
              <a:rPr i="0" lang="en-US" sz="1517" u="none" cap="none" strike="noStrike">
                <a:solidFill>
                  <a:srgbClr val="443728"/>
                </a:solidFill>
                <a:latin typeface="Open Sans"/>
                <a:ea typeface="Open Sans"/>
                <a:cs typeface="Open Sans"/>
                <a:sym typeface="Open Sans"/>
              </a:rPr>
              <a:t> unique resume-job pairs for labeling.</a:t>
            </a:r>
            <a:endParaRPr i="0" sz="1517" u="none" cap="none" strike="noStrike"/>
          </a:p>
        </p:txBody>
      </p:sp>
      <p:sp>
        <p:nvSpPr>
          <p:cNvPr id="121" name="Google Shape;121;p18"/>
          <p:cNvSpPr/>
          <p:nvPr/>
        </p:nvSpPr>
        <p:spPr>
          <a:xfrm>
            <a:off x="8904923" y="1325999"/>
            <a:ext cx="5186958" cy="1855946"/>
          </a:xfrm>
          <a:prstGeom prst="roundRect">
            <a:avLst>
              <a:gd fmla="val 3531" name="adj"/>
            </a:avLst>
          </a:prstGeom>
          <a:solidFill>
            <a:srgbClr val="E1D4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2" name="Google Shape;122;p18"/>
          <p:cNvPicPr preferRelativeResize="0"/>
          <p:nvPr/>
        </p:nvPicPr>
        <p:blipFill rotWithShape="1">
          <a:blip r:embed="rId3">
            <a:alphaModFix/>
          </a:blip>
          <a:srcRect b="0" l="0" r="0" t="0"/>
          <a:stretch/>
        </p:blipFill>
        <p:spPr>
          <a:xfrm>
            <a:off x="9060894" y="1567220"/>
            <a:ext cx="195024" cy="155972"/>
          </a:xfrm>
          <a:prstGeom prst="rect">
            <a:avLst/>
          </a:prstGeom>
          <a:noFill/>
          <a:ln>
            <a:noFill/>
          </a:ln>
        </p:spPr>
      </p:pic>
      <p:sp>
        <p:nvSpPr>
          <p:cNvPr id="123" name="Google Shape;123;p18"/>
          <p:cNvSpPr/>
          <p:nvPr/>
        </p:nvSpPr>
        <p:spPr>
          <a:xfrm>
            <a:off x="9411891" y="1520904"/>
            <a:ext cx="4524018" cy="249555"/>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000000"/>
              </a:buClr>
              <a:buSzPts val="1200"/>
              <a:buFont typeface="Open Sans"/>
              <a:buNone/>
            </a:pPr>
            <a:r>
              <a:rPr b="0" i="0" lang="en-US" sz="1200" u="none" cap="none" strike="noStrike">
                <a:solidFill>
                  <a:srgbClr val="000000"/>
                </a:solidFill>
                <a:latin typeface="Open Sans"/>
                <a:ea typeface="Open Sans"/>
                <a:cs typeface="Open Sans"/>
                <a:sym typeface="Open Sans"/>
              </a:rPr>
              <a:t>Simplified Prompt:</a:t>
            </a:r>
            <a:endParaRPr b="0" i="0" sz="1200" u="none" cap="none" strike="noStrike"/>
          </a:p>
        </p:txBody>
      </p:sp>
      <p:sp>
        <p:nvSpPr>
          <p:cNvPr id="124" name="Google Shape;124;p18"/>
          <p:cNvSpPr/>
          <p:nvPr/>
        </p:nvSpPr>
        <p:spPr>
          <a:xfrm>
            <a:off x="9411891" y="1945958"/>
            <a:ext cx="4524018" cy="982504"/>
          </a:xfrm>
          <a:prstGeom prst="roundRect">
            <a:avLst>
              <a:gd fmla="val 6670" name="adj"/>
            </a:avLst>
          </a:prstGeom>
          <a:solidFill>
            <a:srgbClr val="F2EF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8"/>
          <p:cNvSpPr/>
          <p:nvPr/>
        </p:nvSpPr>
        <p:spPr>
          <a:xfrm>
            <a:off x="9404152" y="1945958"/>
            <a:ext cx="4539496" cy="982504"/>
          </a:xfrm>
          <a:prstGeom prst="roundRect">
            <a:avLst>
              <a:gd fmla="val 2382" name="adj"/>
            </a:avLst>
          </a:prstGeom>
          <a:solidFill>
            <a:srgbClr val="F2EF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8"/>
          <p:cNvSpPr/>
          <p:nvPr/>
        </p:nvSpPr>
        <p:spPr>
          <a:xfrm>
            <a:off x="9560123" y="2062877"/>
            <a:ext cx="4227552" cy="748665"/>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000000"/>
              </a:buClr>
              <a:buSzPts val="1200"/>
              <a:buFont typeface="Consolas"/>
              <a:buNone/>
            </a:pPr>
            <a:r>
              <a:rPr b="0" i="0" lang="en-US" sz="1200" u="none" cap="none" strike="noStrike">
                <a:solidFill>
                  <a:srgbClr val="000000"/>
                </a:solidFill>
                <a:highlight>
                  <a:srgbClr val="F2EFED"/>
                </a:highlight>
                <a:latin typeface="Consolas"/>
                <a:ea typeface="Consolas"/>
                <a:cs typeface="Consolas"/>
                <a:sym typeface="Consolas"/>
              </a:rPr>
              <a:t>Compare Resume with Job Description. Does applicant get interview (1/0)?</a:t>
            </a:r>
            <a:endParaRPr b="0" i="0" sz="1200" u="none" cap="none" strike="noStrike"/>
          </a:p>
        </p:txBody>
      </p:sp>
      <p:sp>
        <p:nvSpPr>
          <p:cNvPr id="127" name="Google Shape;127;p18"/>
          <p:cNvSpPr/>
          <p:nvPr/>
        </p:nvSpPr>
        <p:spPr>
          <a:xfrm>
            <a:off x="12102025" y="7800350"/>
            <a:ext cx="2475300" cy="334800"/>
          </a:xfrm>
          <a:prstGeom prst="rect">
            <a:avLst/>
          </a:prstGeom>
          <a:solidFill>
            <a:srgbClr val="FFFC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8" name="Google Shape;128;p18"/>
          <p:cNvPicPr preferRelativeResize="0"/>
          <p:nvPr/>
        </p:nvPicPr>
        <p:blipFill>
          <a:blip r:embed="rId4">
            <a:alphaModFix/>
          </a:blip>
          <a:stretch>
            <a:fillRect/>
          </a:stretch>
        </p:blipFill>
        <p:spPr>
          <a:xfrm>
            <a:off x="9152080" y="3334345"/>
            <a:ext cx="4692624" cy="431360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9"/>
          <p:cNvSpPr/>
          <p:nvPr/>
        </p:nvSpPr>
        <p:spPr>
          <a:xfrm>
            <a:off x="440696" y="459150"/>
            <a:ext cx="10040700" cy="14175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443728"/>
              </a:buClr>
              <a:buSzPts val="4450"/>
              <a:buFont typeface="Crimson Pro"/>
              <a:buNone/>
            </a:pPr>
            <a:r>
              <a:rPr b="1" i="0" lang="en-US" sz="4450" u="none" cap="none" strike="noStrike">
                <a:solidFill>
                  <a:srgbClr val="443728"/>
                </a:solidFill>
                <a:latin typeface="Crimson Pro"/>
                <a:ea typeface="Crimson Pro"/>
                <a:cs typeface="Crimson Pro"/>
                <a:sym typeface="Crimson Pro"/>
              </a:rPr>
              <a:t>Binary Interview Classification Model</a:t>
            </a:r>
            <a:endParaRPr b="0" i="0" sz="4450" u="none" cap="none" strike="noStrike"/>
          </a:p>
        </p:txBody>
      </p:sp>
      <p:sp>
        <p:nvSpPr>
          <p:cNvPr id="135" name="Google Shape;135;p19"/>
          <p:cNvSpPr/>
          <p:nvPr/>
        </p:nvSpPr>
        <p:spPr>
          <a:xfrm>
            <a:off x="6365490" y="1525072"/>
            <a:ext cx="7556400" cy="725700"/>
          </a:xfrm>
          <a:prstGeom prst="rect">
            <a:avLst/>
          </a:prstGeom>
          <a:noFill/>
          <a:ln>
            <a:noFill/>
          </a:ln>
        </p:spPr>
        <p:txBody>
          <a:bodyPr anchorCtr="0" anchor="t" bIns="0" lIns="0" spcFirstLastPara="1" rIns="0" wrap="square" tIns="0">
            <a:noAutofit/>
          </a:bodyPr>
          <a:lstStyle/>
          <a:p>
            <a:pPr indent="-339725" lvl="0" marL="457200" marR="0" rtl="0" algn="l">
              <a:lnSpc>
                <a:spcPct val="162857"/>
              </a:lnSpc>
              <a:spcBef>
                <a:spcPts val="0"/>
              </a:spcBef>
              <a:spcAft>
                <a:spcPts val="0"/>
              </a:spcAft>
              <a:buClr>
                <a:srgbClr val="443728"/>
              </a:buClr>
              <a:buSzPts val="1750"/>
              <a:buFont typeface="Open Sans"/>
              <a:buChar char="●"/>
            </a:pPr>
            <a:r>
              <a:rPr i="0" lang="en-US" sz="1750" u="none" cap="none" strike="noStrike">
                <a:solidFill>
                  <a:srgbClr val="443728"/>
                </a:solidFill>
                <a:latin typeface="Open Sans"/>
                <a:ea typeface="Open Sans"/>
                <a:cs typeface="Open Sans"/>
                <a:sym typeface="Open Sans"/>
              </a:rPr>
              <a:t>Our initial step into predictive modeling involved a binary classifier to determine interview suitability.</a:t>
            </a:r>
            <a:endParaRPr i="0" sz="1750" u="none" cap="none" strike="noStrike"/>
          </a:p>
        </p:txBody>
      </p:sp>
      <p:sp>
        <p:nvSpPr>
          <p:cNvPr id="136" name="Google Shape;136;p19"/>
          <p:cNvSpPr/>
          <p:nvPr/>
        </p:nvSpPr>
        <p:spPr>
          <a:xfrm>
            <a:off x="6365490" y="2506028"/>
            <a:ext cx="7556400" cy="725700"/>
          </a:xfrm>
          <a:prstGeom prst="rect">
            <a:avLst/>
          </a:prstGeom>
          <a:noFill/>
          <a:ln>
            <a:noFill/>
          </a:ln>
        </p:spPr>
        <p:txBody>
          <a:bodyPr anchorCtr="0" anchor="t" bIns="0" lIns="0" spcFirstLastPara="1" rIns="0" wrap="square" tIns="0">
            <a:noAutofit/>
          </a:bodyPr>
          <a:lstStyle/>
          <a:p>
            <a:pPr indent="-339725" lvl="0" marL="457200" marR="0" rtl="0" algn="l">
              <a:lnSpc>
                <a:spcPct val="162857"/>
              </a:lnSpc>
              <a:spcBef>
                <a:spcPts val="0"/>
              </a:spcBef>
              <a:spcAft>
                <a:spcPts val="0"/>
              </a:spcAft>
              <a:buClr>
                <a:srgbClr val="443728"/>
              </a:buClr>
              <a:buSzPts val="1750"/>
              <a:buFont typeface="Open Sans"/>
              <a:buChar char="●"/>
            </a:pPr>
            <a:r>
              <a:rPr i="0" lang="en-US" sz="1750" u="none" cap="none" strike="noStrike">
                <a:solidFill>
                  <a:srgbClr val="443728"/>
                </a:solidFill>
                <a:latin typeface="Open Sans"/>
                <a:ea typeface="Open Sans"/>
                <a:cs typeface="Open Sans"/>
                <a:sym typeface="Open Sans"/>
              </a:rPr>
              <a:t>The chosen model for this task was a Random Forest, known for its robustness and ability to handle complex feature interactions.</a:t>
            </a:r>
            <a:endParaRPr i="0" sz="1750" u="none" cap="none" strike="noStrike"/>
          </a:p>
        </p:txBody>
      </p:sp>
      <p:sp>
        <p:nvSpPr>
          <p:cNvPr id="137" name="Google Shape;137;p19"/>
          <p:cNvSpPr/>
          <p:nvPr/>
        </p:nvSpPr>
        <p:spPr>
          <a:xfrm>
            <a:off x="6365490" y="3311128"/>
            <a:ext cx="7556400" cy="725700"/>
          </a:xfrm>
          <a:prstGeom prst="rect">
            <a:avLst/>
          </a:prstGeom>
          <a:noFill/>
          <a:ln>
            <a:noFill/>
          </a:ln>
        </p:spPr>
        <p:txBody>
          <a:bodyPr anchorCtr="0" anchor="t" bIns="0" lIns="0" spcFirstLastPara="1" rIns="0" wrap="square" tIns="0">
            <a:noAutofit/>
          </a:bodyPr>
          <a:lstStyle/>
          <a:p>
            <a:pPr indent="-339725" lvl="0" marL="457200" marR="0" rtl="0" algn="l">
              <a:lnSpc>
                <a:spcPct val="162857"/>
              </a:lnSpc>
              <a:spcBef>
                <a:spcPts val="0"/>
              </a:spcBef>
              <a:spcAft>
                <a:spcPts val="0"/>
              </a:spcAft>
              <a:buClr>
                <a:srgbClr val="443728"/>
              </a:buClr>
              <a:buSzPts val="1750"/>
              <a:buFont typeface="Open Sans"/>
              <a:buChar char="●"/>
            </a:pPr>
            <a:r>
              <a:rPr i="0" lang="en-US" sz="1750" u="none" cap="none" strike="noStrike">
                <a:solidFill>
                  <a:srgbClr val="443728"/>
                </a:solidFill>
                <a:latin typeface="Open Sans"/>
                <a:ea typeface="Open Sans"/>
                <a:cs typeface="Open Sans"/>
                <a:sym typeface="Open Sans"/>
              </a:rPr>
              <a:t>Feature vectors were derived directly from the embeddings at the specified resume_id and job_id indices, ensuring semantic richness.</a:t>
            </a:r>
            <a:endParaRPr i="0" sz="1750" u="none" cap="none" strike="noStrike"/>
          </a:p>
        </p:txBody>
      </p:sp>
      <p:sp>
        <p:nvSpPr>
          <p:cNvPr id="138" name="Google Shape;138;p19"/>
          <p:cNvSpPr/>
          <p:nvPr/>
        </p:nvSpPr>
        <p:spPr>
          <a:xfrm>
            <a:off x="6365490" y="4116229"/>
            <a:ext cx="7556400" cy="1088700"/>
          </a:xfrm>
          <a:prstGeom prst="rect">
            <a:avLst/>
          </a:prstGeom>
          <a:noFill/>
          <a:ln>
            <a:noFill/>
          </a:ln>
        </p:spPr>
        <p:txBody>
          <a:bodyPr anchorCtr="0" anchor="t" bIns="0" lIns="0" spcFirstLastPara="1" rIns="0" wrap="square" tIns="0">
            <a:noAutofit/>
          </a:bodyPr>
          <a:lstStyle/>
          <a:p>
            <a:pPr indent="-339725" lvl="0" marL="457200" marR="0" rtl="0" algn="l">
              <a:lnSpc>
                <a:spcPct val="162857"/>
              </a:lnSpc>
              <a:spcBef>
                <a:spcPts val="0"/>
              </a:spcBef>
              <a:spcAft>
                <a:spcPts val="0"/>
              </a:spcAft>
              <a:buClr>
                <a:srgbClr val="443728"/>
              </a:buClr>
              <a:buSzPts val="1750"/>
              <a:buFont typeface="Open Sans"/>
              <a:buChar char="●"/>
            </a:pPr>
            <a:r>
              <a:rPr i="0" lang="en-US" sz="1750" u="none" cap="none" strike="noStrike">
                <a:solidFill>
                  <a:srgbClr val="443728"/>
                </a:solidFill>
                <a:latin typeface="Open Sans"/>
                <a:ea typeface="Open Sans"/>
                <a:cs typeface="Open Sans"/>
                <a:sym typeface="Open Sans"/>
              </a:rPr>
              <a:t>To reduce dimensionality and mitigate potential overfitting, Principal Component Analysis (PCA) was applied, effectively compressing 384 dimensions down to 2.</a:t>
            </a:r>
            <a:endParaRPr i="0" sz="1750" u="none" cap="none" strike="noStrike"/>
          </a:p>
        </p:txBody>
      </p:sp>
      <p:sp>
        <p:nvSpPr>
          <p:cNvPr id="139" name="Google Shape;139;p19"/>
          <p:cNvSpPr/>
          <p:nvPr/>
        </p:nvSpPr>
        <p:spPr>
          <a:xfrm>
            <a:off x="6365490" y="5414720"/>
            <a:ext cx="7556400" cy="725700"/>
          </a:xfrm>
          <a:prstGeom prst="rect">
            <a:avLst/>
          </a:prstGeom>
          <a:noFill/>
          <a:ln>
            <a:noFill/>
          </a:ln>
        </p:spPr>
        <p:txBody>
          <a:bodyPr anchorCtr="0" anchor="t" bIns="0" lIns="0" spcFirstLastPara="1" rIns="0" wrap="square" tIns="0">
            <a:noAutofit/>
          </a:bodyPr>
          <a:lstStyle/>
          <a:p>
            <a:pPr indent="-339725" lvl="0" marL="457200" marR="0" rtl="0" algn="l">
              <a:lnSpc>
                <a:spcPct val="162857"/>
              </a:lnSpc>
              <a:spcBef>
                <a:spcPts val="0"/>
              </a:spcBef>
              <a:spcAft>
                <a:spcPts val="0"/>
              </a:spcAft>
              <a:buClr>
                <a:srgbClr val="443728"/>
              </a:buClr>
              <a:buSzPts val="1750"/>
              <a:buFont typeface="Open Sans"/>
              <a:buChar char="●"/>
            </a:pPr>
            <a:r>
              <a:rPr i="0" lang="en-US" sz="1750" u="none" cap="none" strike="noStrike">
                <a:solidFill>
                  <a:srgbClr val="443728"/>
                </a:solidFill>
                <a:latin typeface="Open Sans"/>
                <a:ea typeface="Open Sans"/>
                <a:cs typeface="Open Sans"/>
                <a:sym typeface="Open Sans"/>
              </a:rPr>
              <a:t>A standard train/test split was performed to rigorously evaluate the model's performance and generalization capabilities.</a:t>
            </a:r>
            <a:endParaRPr i="0" sz="1750" u="none" cap="none" strike="noStrike"/>
          </a:p>
        </p:txBody>
      </p:sp>
      <p:sp>
        <p:nvSpPr>
          <p:cNvPr id="140" name="Google Shape;140;p19"/>
          <p:cNvSpPr/>
          <p:nvPr/>
        </p:nvSpPr>
        <p:spPr>
          <a:xfrm>
            <a:off x="6365490" y="6350199"/>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2200"/>
              <a:buFont typeface="Crimson Pro"/>
              <a:buNone/>
            </a:pPr>
            <a:r>
              <a:t/>
            </a:r>
            <a:endParaRPr b="0" i="0" sz="2200" u="none" cap="none" strike="noStrike"/>
          </a:p>
        </p:txBody>
      </p:sp>
      <p:sp>
        <p:nvSpPr>
          <p:cNvPr id="141" name="Google Shape;141;p19"/>
          <p:cNvSpPr/>
          <p:nvPr/>
        </p:nvSpPr>
        <p:spPr>
          <a:xfrm>
            <a:off x="12102025" y="7800350"/>
            <a:ext cx="2475300" cy="334800"/>
          </a:xfrm>
          <a:prstGeom prst="rect">
            <a:avLst/>
          </a:prstGeom>
          <a:solidFill>
            <a:srgbClr val="FFFC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2" name="Google Shape;142;p19"/>
          <p:cNvPicPr preferRelativeResize="0"/>
          <p:nvPr/>
        </p:nvPicPr>
        <p:blipFill>
          <a:blip r:embed="rId3">
            <a:alphaModFix/>
          </a:blip>
          <a:stretch>
            <a:fillRect/>
          </a:stretch>
        </p:blipFill>
        <p:spPr>
          <a:xfrm>
            <a:off x="223500" y="2116850"/>
            <a:ext cx="6021275" cy="4587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0"/>
          <p:cNvSpPr/>
          <p:nvPr/>
        </p:nvSpPr>
        <p:spPr>
          <a:xfrm>
            <a:off x="687467" y="540187"/>
            <a:ext cx="10492621" cy="613886"/>
          </a:xfrm>
          <a:prstGeom prst="rect">
            <a:avLst/>
          </a:prstGeom>
          <a:noFill/>
          <a:ln>
            <a:noFill/>
          </a:ln>
        </p:spPr>
        <p:txBody>
          <a:bodyPr anchorCtr="0" anchor="t" bIns="0" lIns="0" spcFirstLastPara="1" rIns="0" wrap="square" tIns="0">
            <a:noAutofit/>
          </a:bodyPr>
          <a:lstStyle/>
          <a:p>
            <a:pPr indent="0" lvl="0" marL="0" marR="0" rtl="0" algn="l">
              <a:lnSpc>
                <a:spcPct val="124675"/>
              </a:lnSpc>
              <a:spcBef>
                <a:spcPts val="0"/>
              </a:spcBef>
              <a:spcAft>
                <a:spcPts val="0"/>
              </a:spcAft>
              <a:buClr>
                <a:srgbClr val="443728"/>
              </a:buClr>
              <a:buSzPts val="3850"/>
              <a:buFont typeface="Crimson Pro"/>
              <a:buNone/>
            </a:pPr>
            <a:r>
              <a:rPr b="1" i="0" lang="en-US" sz="3850" u="none" cap="none" strike="noStrike">
                <a:solidFill>
                  <a:srgbClr val="443728"/>
                </a:solidFill>
                <a:latin typeface="Crimson Pro"/>
                <a:ea typeface="Crimson Pro"/>
                <a:cs typeface="Crimson Pro"/>
                <a:sym typeface="Crimson Pro"/>
              </a:rPr>
              <a:t>Multiclass Subjective Labeling: Granular Feedback</a:t>
            </a:r>
            <a:endParaRPr b="0" i="0" sz="3850" u="none" cap="none" strike="noStrike"/>
          </a:p>
        </p:txBody>
      </p:sp>
      <p:sp>
        <p:nvSpPr>
          <p:cNvPr id="149" name="Google Shape;149;p20"/>
          <p:cNvSpPr/>
          <p:nvPr/>
        </p:nvSpPr>
        <p:spPr>
          <a:xfrm>
            <a:off x="687467" y="1546860"/>
            <a:ext cx="13255466" cy="314325"/>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443728"/>
              </a:buClr>
              <a:buSzPts val="1500"/>
              <a:buFont typeface="Open Sans"/>
              <a:buNone/>
            </a:pPr>
            <a:r>
              <a:rPr b="0" i="0" lang="en-US" sz="1500" u="none" cap="none" strike="noStrike">
                <a:solidFill>
                  <a:srgbClr val="443728"/>
                </a:solidFill>
                <a:latin typeface="Open Sans"/>
                <a:ea typeface="Open Sans"/>
                <a:cs typeface="Open Sans"/>
                <a:sym typeface="Open Sans"/>
              </a:rPr>
              <a:t>Moving beyond binary, we explored a more nuanced feedback system through multiclass labeling.</a:t>
            </a:r>
            <a:endParaRPr b="0" i="0" sz="1500" u="none" cap="none" strike="noStrike"/>
          </a:p>
        </p:txBody>
      </p:sp>
      <p:sp>
        <p:nvSpPr>
          <p:cNvPr id="150" name="Google Shape;150;p20"/>
          <p:cNvSpPr/>
          <p:nvPr/>
        </p:nvSpPr>
        <p:spPr>
          <a:xfrm>
            <a:off x="687467" y="2082165"/>
            <a:ext cx="6529507" cy="3004066"/>
          </a:xfrm>
          <a:prstGeom prst="roundRect">
            <a:avLst>
              <a:gd fmla="val 3653" name="adj"/>
            </a:avLst>
          </a:prstGeom>
          <a:solidFill>
            <a:srgbClr val="FFFCFA"/>
          </a:solidFill>
          <a:ln cap="flat" cmpd="sng" w="22850">
            <a:solidFill>
              <a:srgbClr val="D1C8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0"/>
          <p:cNvSpPr/>
          <p:nvPr/>
        </p:nvSpPr>
        <p:spPr>
          <a:xfrm>
            <a:off x="664607" y="2082165"/>
            <a:ext cx="91440" cy="3004066"/>
          </a:xfrm>
          <a:prstGeom prst="roundRect">
            <a:avLst>
              <a:gd fmla="val 90226" name="adj"/>
            </a:avLst>
          </a:prstGeom>
          <a:solidFill>
            <a:srgbClr val="835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0"/>
          <p:cNvSpPr/>
          <p:nvPr/>
        </p:nvSpPr>
        <p:spPr>
          <a:xfrm>
            <a:off x="975241" y="2301359"/>
            <a:ext cx="2777371" cy="306824"/>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443728"/>
              </a:buClr>
              <a:buSzPts val="1900"/>
              <a:buFont typeface="Crimson Pro"/>
              <a:buNone/>
            </a:pPr>
            <a:r>
              <a:rPr b="1" i="0" lang="en-US" sz="1900" u="none" cap="none" strike="noStrike">
                <a:solidFill>
                  <a:srgbClr val="443728"/>
                </a:solidFill>
                <a:latin typeface="Crimson Pro"/>
                <a:ea typeface="Crimson Pro"/>
                <a:cs typeface="Crimson Pro"/>
                <a:sym typeface="Crimson Pro"/>
              </a:rPr>
              <a:t>Gemini Model Consistency</a:t>
            </a:r>
            <a:endParaRPr b="0" i="0" sz="1900" u="none" cap="none" strike="noStrike"/>
          </a:p>
        </p:txBody>
      </p:sp>
      <p:sp>
        <p:nvSpPr>
          <p:cNvPr id="153" name="Google Shape;153;p20"/>
          <p:cNvSpPr/>
          <p:nvPr/>
        </p:nvSpPr>
        <p:spPr>
          <a:xfrm>
            <a:off x="975241" y="2725936"/>
            <a:ext cx="6022538" cy="628650"/>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443728"/>
              </a:buClr>
              <a:buSzPts val="1500"/>
              <a:buFont typeface="Open Sans"/>
              <a:buNone/>
            </a:pPr>
            <a:r>
              <a:rPr b="0" i="0" lang="en-US" sz="1500" u="none" cap="none" strike="noStrike">
                <a:solidFill>
                  <a:srgbClr val="443728"/>
                </a:solidFill>
                <a:latin typeface="Open Sans"/>
                <a:ea typeface="Open Sans"/>
                <a:cs typeface="Open Sans"/>
                <a:sym typeface="Open Sans"/>
              </a:rPr>
              <a:t>The same efficient </a:t>
            </a:r>
            <a:r>
              <a:rPr b="1" i="0" lang="en-US" sz="1500" u="none" cap="none" strike="noStrike">
                <a:solidFill>
                  <a:srgbClr val="443728"/>
                </a:solidFill>
                <a:latin typeface="Open Sans"/>
                <a:ea typeface="Open Sans"/>
                <a:cs typeface="Open Sans"/>
                <a:sym typeface="Open Sans"/>
              </a:rPr>
              <a:t>Gemini 2.5 Flash Lite</a:t>
            </a:r>
            <a:r>
              <a:rPr b="0" i="0" lang="en-US" sz="1500" u="none" cap="none" strike="noStrike">
                <a:solidFill>
                  <a:srgbClr val="443728"/>
                </a:solidFill>
                <a:latin typeface="Open Sans"/>
                <a:ea typeface="Open Sans"/>
                <a:cs typeface="Open Sans"/>
                <a:sym typeface="Open Sans"/>
              </a:rPr>
              <a:t> model was employed, ensuring consistency in AI-driven labeling.</a:t>
            </a:r>
            <a:endParaRPr b="0" i="0" sz="1500" u="none" cap="none" strike="noStrike"/>
          </a:p>
        </p:txBody>
      </p:sp>
      <p:sp>
        <p:nvSpPr>
          <p:cNvPr id="154" name="Google Shape;154;p20"/>
          <p:cNvSpPr/>
          <p:nvPr/>
        </p:nvSpPr>
        <p:spPr>
          <a:xfrm>
            <a:off x="7413308" y="2082165"/>
            <a:ext cx="6529626" cy="3004066"/>
          </a:xfrm>
          <a:prstGeom prst="roundRect">
            <a:avLst>
              <a:gd fmla="val 3653" name="adj"/>
            </a:avLst>
          </a:prstGeom>
          <a:solidFill>
            <a:srgbClr val="FFFCFA"/>
          </a:solidFill>
          <a:ln cap="flat" cmpd="sng" w="22850">
            <a:solidFill>
              <a:srgbClr val="D1C8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0"/>
          <p:cNvSpPr/>
          <p:nvPr/>
        </p:nvSpPr>
        <p:spPr>
          <a:xfrm>
            <a:off x="7390448" y="2082165"/>
            <a:ext cx="91440" cy="3004066"/>
          </a:xfrm>
          <a:prstGeom prst="roundRect">
            <a:avLst>
              <a:gd fmla="val 90226" name="adj"/>
            </a:avLst>
          </a:prstGeom>
          <a:solidFill>
            <a:srgbClr val="835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0"/>
          <p:cNvSpPr/>
          <p:nvPr/>
        </p:nvSpPr>
        <p:spPr>
          <a:xfrm>
            <a:off x="7701082" y="2301359"/>
            <a:ext cx="2649379" cy="306824"/>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443728"/>
              </a:buClr>
              <a:buSzPts val="1900"/>
              <a:buFont typeface="Crimson Pro"/>
              <a:buNone/>
            </a:pPr>
            <a:r>
              <a:rPr b="1" i="0" lang="en-US" sz="1900" u="none" cap="none" strike="noStrike">
                <a:solidFill>
                  <a:srgbClr val="443728"/>
                </a:solidFill>
                <a:latin typeface="Crimson Pro"/>
                <a:ea typeface="Crimson Pro"/>
                <a:cs typeface="Crimson Pro"/>
                <a:sym typeface="Crimson Pro"/>
              </a:rPr>
              <a:t>Three Classification Tiers</a:t>
            </a:r>
            <a:endParaRPr b="0" i="0" sz="1900" u="none" cap="none" strike="noStrike"/>
          </a:p>
        </p:txBody>
      </p:sp>
      <p:sp>
        <p:nvSpPr>
          <p:cNvPr id="157" name="Google Shape;157;p20"/>
          <p:cNvSpPr/>
          <p:nvPr/>
        </p:nvSpPr>
        <p:spPr>
          <a:xfrm>
            <a:off x="7701082" y="2725936"/>
            <a:ext cx="6022658" cy="314325"/>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443728"/>
              </a:buClr>
              <a:buSzPts val="1500"/>
              <a:buFont typeface="Open Sans"/>
              <a:buNone/>
            </a:pPr>
            <a:r>
              <a:rPr b="0" i="0" lang="en-US" sz="1500" u="none" cap="none" strike="noStrike">
                <a:solidFill>
                  <a:srgbClr val="443728"/>
                </a:solidFill>
                <a:latin typeface="Open Sans"/>
                <a:ea typeface="Open Sans"/>
                <a:cs typeface="Open Sans"/>
                <a:sym typeface="Open Sans"/>
              </a:rPr>
              <a:t>We defined three distinct subjective classes:</a:t>
            </a:r>
            <a:endParaRPr b="0" i="0" sz="1500" u="none" cap="none" strike="noStrike"/>
          </a:p>
        </p:txBody>
      </p:sp>
      <p:sp>
        <p:nvSpPr>
          <p:cNvPr id="158" name="Google Shape;158;p20"/>
          <p:cNvSpPr/>
          <p:nvPr/>
        </p:nvSpPr>
        <p:spPr>
          <a:xfrm>
            <a:off x="7701082" y="3158014"/>
            <a:ext cx="6022658" cy="314325"/>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443728"/>
              </a:buClr>
              <a:buSzPts val="1500"/>
              <a:buFont typeface="Open Sans"/>
              <a:buNone/>
            </a:pPr>
            <a:r>
              <a:rPr b="1" i="0" lang="en-US" sz="1500" u="none" cap="none" strike="noStrike">
                <a:solidFill>
                  <a:srgbClr val="443728"/>
                </a:solidFill>
                <a:latin typeface="Open Sans"/>
                <a:ea typeface="Open Sans"/>
                <a:cs typeface="Open Sans"/>
                <a:sym typeface="Open Sans"/>
              </a:rPr>
              <a:t>0 = Not Related:</a:t>
            </a:r>
            <a:r>
              <a:rPr b="0" i="0" lang="en-US" sz="1500" u="none" cap="none" strike="noStrike">
                <a:solidFill>
                  <a:srgbClr val="443728"/>
                </a:solidFill>
                <a:latin typeface="Open Sans"/>
                <a:ea typeface="Open Sans"/>
                <a:cs typeface="Open Sans"/>
                <a:sym typeface="Open Sans"/>
              </a:rPr>
              <a:t> Skills show minimal to no alignment.</a:t>
            </a:r>
            <a:endParaRPr b="0" i="0" sz="1500" u="none" cap="none" strike="noStrike"/>
          </a:p>
        </p:txBody>
      </p:sp>
      <p:sp>
        <p:nvSpPr>
          <p:cNvPr id="159" name="Google Shape;159;p20"/>
          <p:cNvSpPr/>
          <p:nvPr/>
        </p:nvSpPr>
        <p:spPr>
          <a:xfrm>
            <a:off x="7701082" y="3541038"/>
            <a:ext cx="6022658" cy="628650"/>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443728"/>
              </a:buClr>
              <a:buSzPts val="1500"/>
              <a:buFont typeface="Open Sans"/>
              <a:buNone/>
            </a:pPr>
            <a:r>
              <a:rPr b="1" i="0" lang="en-US" sz="1500" u="none" cap="none" strike="noStrike">
                <a:solidFill>
                  <a:srgbClr val="443728"/>
                </a:solidFill>
                <a:latin typeface="Open Sans"/>
                <a:ea typeface="Open Sans"/>
                <a:cs typeface="Open Sans"/>
                <a:sym typeface="Open Sans"/>
              </a:rPr>
              <a:t>1 = Moderately Related:</a:t>
            </a:r>
            <a:r>
              <a:rPr b="0" i="0" lang="en-US" sz="1500" u="none" cap="none" strike="noStrike">
                <a:solidFill>
                  <a:srgbClr val="443728"/>
                </a:solidFill>
                <a:latin typeface="Open Sans"/>
                <a:ea typeface="Open Sans"/>
                <a:cs typeface="Open Sans"/>
                <a:sym typeface="Open Sans"/>
              </a:rPr>
              <a:t> Some overlap, but not a strong match.</a:t>
            </a:r>
            <a:endParaRPr b="0" i="0" sz="1500" u="none" cap="none" strike="noStrike"/>
          </a:p>
        </p:txBody>
      </p:sp>
      <p:sp>
        <p:nvSpPr>
          <p:cNvPr id="160" name="Google Shape;160;p20"/>
          <p:cNvSpPr/>
          <p:nvPr/>
        </p:nvSpPr>
        <p:spPr>
          <a:xfrm>
            <a:off x="7701082" y="4238387"/>
            <a:ext cx="6022658" cy="628650"/>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443728"/>
              </a:buClr>
              <a:buSzPts val="1500"/>
              <a:buFont typeface="Open Sans"/>
              <a:buNone/>
            </a:pPr>
            <a:r>
              <a:rPr b="1" i="0" lang="en-US" sz="1500" u="none" cap="none" strike="noStrike">
                <a:solidFill>
                  <a:srgbClr val="443728"/>
                </a:solidFill>
                <a:latin typeface="Open Sans"/>
                <a:ea typeface="Open Sans"/>
                <a:cs typeface="Open Sans"/>
                <a:sym typeface="Open Sans"/>
              </a:rPr>
              <a:t>2 = Closely Related:</a:t>
            </a:r>
            <a:r>
              <a:rPr b="0" i="0" lang="en-US" sz="1500" u="none" cap="none" strike="noStrike">
                <a:solidFill>
                  <a:srgbClr val="443728"/>
                </a:solidFill>
                <a:latin typeface="Open Sans"/>
                <a:ea typeface="Open Sans"/>
                <a:cs typeface="Open Sans"/>
                <a:sym typeface="Open Sans"/>
              </a:rPr>
              <a:t> Strong alignment of skills and requirements.</a:t>
            </a:r>
            <a:endParaRPr b="0" i="0" sz="1500" u="none" cap="none" strike="noStrike"/>
          </a:p>
        </p:txBody>
      </p:sp>
      <p:sp>
        <p:nvSpPr>
          <p:cNvPr id="161" name="Google Shape;161;p20"/>
          <p:cNvSpPr/>
          <p:nvPr/>
        </p:nvSpPr>
        <p:spPr>
          <a:xfrm>
            <a:off x="687467" y="5282565"/>
            <a:ext cx="6529507" cy="1805940"/>
          </a:xfrm>
          <a:prstGeom prst="roundRect">
            <a:avLst>
              <a:gd fmla="val 6076" name="adj"/>
            </a:avLst>
          </a:prstGeom>
          <a:solidFill>
            <a:srgbClr val="FFFCFA"/>
          </a:solidFill>
          <a:ln cap="flat" cmpd="sng" w="22850">
            <a:solidFill>
              <a:srgbClr val="D1C8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0"/>
          <p:cNvSpPr/>
          <p:nvPr/>
        </p:nvSpPr>
        <p:spPr>
          <a:xfrm>
            <a:off x="664607" y="5282565"/>
            <a:ext cx="91440" cy="1805940"/>
          </a:xfrm>
          <a:prstGeom prst="roundRect">
            <a:avLst>
              <a:gd fmla="val 90226" name="adj"/>
            </a:avLst>
          </a:prstGeom>
          <a:solidFill>
            <a:srgbClr val="835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0"/>
          <p:cNvSpPr/>
          <p:nvPr/>
        </p:nvSpPr>
        <p:spPr>
          <a:xfrm>
            <a:off x="975241" y="5501759"/>
            <a:ext cx="2763917" cy="306824"/>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443728"/>
              </a:buClr>
              <a:buSzPts val="1900"/>
              <a:buFont typeface="Crimson Pro"/>
              <a:buNone/>
            </a:pPr>
            <a:r>
              <a:rPr b="1" i="0" lang="en-US" sz="1900" u="none" cap="none" strike="noStrike">
                <a:solidFill>
                  <a:srgbClr val="443728"/>
                </a:solidFill>
                <a:latin typeface="Crimson Pro"/>
                <a:ea typeface="Crimson Pro"/>
                <a:cs typeface="Crimson Pro"/>
                <a:sym typeface="Crimson Pro"/>
              </a:rPr>
              <a:t>Targeted Skill Comparison</a:t>
            </a:r>
            <a:endParaRPr b="0" i="0" sz="1900" u="none" cap="none" strike="noStrike"/>
          </a:p>
        </p:txBody>
      </p:sp>
      <p:sp>
        <p:nvSpPr>
          <p:cNvPr id="164" name="Google Shape;164;p20"/>
          <p:cNvSpPr/>
          <p:nvPr/>
        </p:nvSpPr>
        <p:spPr>
          <a:xfrm>
            <a:off x="975241" y="5926336"/>
            <a:ext cx="6022538" cy="628650"/>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443728"/>
              </a:buClr>
              <a:buSzPts val="1500"/>
              <a:buFont typeface="Open Sans"/>
              <a:buNone/>
            </a:pPr>
            <a:r>
              <a:rPr i="0" lang="en-US" sz="1500" u="none" cap="none" strike="noStrike">
                <a:solidFill>
                  <a:srgbClr val="443728"/>
                </a:solidFill>
                <a:latin typeface="Open Sans"/>
                <a:ea typeface="Open Sans"/>
                <a:cs typeface="Open Sans"/>
                <a:sym typeface="Open Sans"/>
              </a:rPr>
              <a:t>The labeling focused on comparing the first </a:t>
            </a:r>
            <a:r>
              <a:rPr lang="en-US" sz="1500">
                <a:solidFill>
                  <a:srgbClr val="443728"/>
                </a:solidFill>
                <a:latin typeface="Open Sans"/>
                <a:ea typeface="Open Sans"/>
                <a:cs typeface="Open Sans"/>
                <a:sym typeface="Open Sans"/>
              </a:rPr>
              <a:t>300</a:t>
            </a:r>
            <a:r>
              <a:rPr i="0" lang="en-US" sz="1500" u="none" cap="none" strike="noStrike">
                <a:solidFill>
                  <a:srgbClr val="443728"/>
                </a:solidFill>
                <a:latin typeface="Open Sans"/>
                <a:ea typeface="Open Sans"/>
                <a:cs typeface="Open Sans"/>
                <a:sym typeface="Open Sans"/>
              </a:rPr>
              <a:t> resume skills against the first </a:t>
            </a:r>
            <a:r>
              <a:rPr lang="en-US" sz="1500">
                <a:solidFill>
                  <a:srgbClr val="443728"/>
                </a:solidFill>
                <a:latin typeface="Open Sans"/>
                <a:ea typeface="Open Sans"/>
                <a:cs typeface="Open Sans"/>
                <a:sym typeface="Open Sans"/>
              </a:rPr>
              <a:t>300</a:t>
            </a:r>
            <a:r>
              <a:rPr i="0" lang="en-US" sz="1500" u="none" cap="none" strike="noStrike">
                <a:solidFill>
                  <a:srgbClr val="443728"/>
                </a:solidFill>
                <a:latin typeface="Open Sans"/>
                <a:ea typeface="Open Sans"/>
                <a:cs typeface="Open Sans"/>
                <a:sym typeface="Open Sans"/>
              </a:rPr>
              <a:t> job skills for each pair.</a:t>
            </a:r>
            <a:endParaRPr i="0" sz="1500" u="none" cap="none" strike="noStrike"/>
          </a:p>
        </p:txBody>
      </p:sp>
      <p:sp>
        <p:nvSpPr>
          <p:cNvPr id="165" name="Google Shape;165;p20"/>
          <p:cNvSpPr/>
          <p:nvPr/>
        </p:nvSpPr>
        <p:spPr>
          <a:xfrm>
            <a:off x="7413308" y="5282565"/>
            <a:ext cx="6529626" cy="1805940"/>
          </a:xfrm>
          <a:prstGeom prst="roundRect">
            <a:avLst>
              <a:gd fmla="val 6076" name="adj"/>
            </a:avLst>
          </a:prstGeom>
          <a:solidFill>
            <a:srgbClr val="FFFCFA"/>
          </a:solidFill>
          <a:ln cap="flat" cmpd="sng" w="22850">
            <a:solidFill>
              <a:srgbClr val="D1C8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0"/>
          <p:cNvSpPr/>
          <p:nvPr/>
        </p:nvSpPr>
        <p:spPr>
          <a:xfrm>
            <a:off x="7390448" y="5282565"/>
            <a:ext cx="91440" cy="1805940"/>
          </a:xfrm>
          <a:prstGeom prst="roundRect">
            <a:avLst>
              <a:gd fmla="val 90226" name="adj"/>
            </a:avLst>
          </a:prstGeom>
          <a:solidFill>
            <a:srgbClr val="835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0"/>
          <p:cNvSpPr/>
          <p:nvPr/>
        </p:nvSpPr>
        <p:spPr>
          <a:xfrm>
            <a:off x="7701082" y="5501759"/>
            <a:ext cx="2728674" cy="306824"/>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443728"/>
              </a:buClr>
              <a:buSzPts val="1900"/>
              <a:buFont typeface="Crimson Pro"/>
              <a:buNone/>
            </a:pPr>
            <a:r>
              <a:rPr b="1" i="0" lang="en-US" sz="1900" u="none" cap="none" strike="noStrike">
                <a:solidFill>
                  <a:srgbClr val="443728"/>
                </a:solidFill>
                <a:latin typeface="Crimson Pro"/>
                <a:ea typeface="Crimson Pro"/>
                <a:cs typeface="Crimson Pro"/>
                <a:sym typeface="Crimson Pro"/>
              </a:rPr>
              <a:t>Structured Prompt Design</a:t>
            </a:r>
            <a:endParaRPr b="0" i="0" sz="1900" u="none" cap="none" strike="noStrike"/>
          </a:p>
        </p:txBody>
      </p:sp>
      <p:sp>
        <p:nvSpPr>
          <p:cNvPr id="168" name="Google Shape;168;p20"/>
          <p:cNvSpPr/>
          <p:nvPr/>
        </p:nvSpPr>
        <p:spPr>
          <a:xfrm>
            <a:off x="7701082" y="5926336"/>
            <a:ext cx="6022658" cy="942975"/>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443728"/>
              </a:buClr>
              <a:buSzPts val="1500"/>
              <a:buFont typeface="Open Sans"/>
              <a:buNone/>
            </a:pPr>
            <a:r>
              <a:rPr b="0" i="0" lang="en-US" sz="1500" u="none" cap="none" strike="noStrike">
                <a:solidFill>
                  <a:srgbClr val="443728"/>
                </a:solidFill>
                <a:latin typeface="Open Sans"/>
                <a:ea typeface="Open Sans"/>
                <a:cs typeface="Open Sans"/>
                <a:sym typeface="Open Sans"/>
              </a:rPr>
              <a:t>A carefully crafted structured prompt guided the Gemini model in its skill comparison, ensuring precise contextual understanding and consistent output.</a:t>
            </a:r>
            <a:endParaRPr b="0" i="0" sz="1500" u="none" cap="none" strike="noStrike"/>
          </a:p>
        </p:txBody>
      </p:sp>
      <p:sp>
        <p:nvSpPr>
          <p:cNvPr id="169" name="Google Shape;169;p20"/>
          <p:cNvSpPr/>
          <p:nvPr/>
        </p:nvSpPr>
        <p:spPr>
          <a:xfrm>
            <a:off x="12102025" y="7800350"/>
            <a:ext cx="2475300" cy="334800"/>
          </a:xfrm>
          <a:prstGeom prst="rect">
            <a:avLst/>
          </a:prstGeom>
          <a:solidFill>
            <a:srgbClr val="FFFC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1"/>
          <p:cNvSpPr/>
          <p:nvPr/>
        </p:nvSpPr>
        <p:spPr>
          <a:xfrm>
            <a:off x="497800" y="400764"/>
            <a:ext cx="6350437" cy="4444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2800"/>
              <a:buFont typeface="Crimson Pro"/>
              <a:buNone/>
            </a:pPr>
            <a:r>
              <a:rPr b="1" i="0" lang="en-US" sz="2800" u="none" cap="none" strike="noStrike">
                <a:solidFill>
                  <a:srgbClr val="443728"/>
                </a:solidFill>
                <a:latin typeface="Crimson Pro"/>
                <a:ea typeface="Crimson Pro"/>
                <a:cs typeface="Crimson Pro"/>
                <a:sym typeface="Crimson Pro"/>
              </a:rPr>
              <a:t>Multiclass Feedback Classification Models</a:t>
            </a:r>
            <a:endParaRPr b="0" i="0" sz="2800" u="none" cap="none" strike="noStrike"/>
          </a:p>
        </p:txBody>
      </p:sp>
      <p:sp>
        <p:nvSpPr>
          <p:cNvPr id="176" name="Google Shape;176;p21"/>
          <p:cNvSpPr/>
          <p:nvPr/>
        </p:nvSpPr>
        <p:spPr>
          <a:xfrm>
            <a:off x="497800" y="1058585"/>
            <a:ext cx="8148399" cy="227648"/>
          </a:xfrm>
          <a:prstGeom prst="rect">
            <a:avLst/>
          </a:prstGeom>
          <a:noFill/>
          <a:ln>
            <a:noFill/>
          </a:ln>
        </p:spPr>
        <p:txBody>
          <a:bodyPr anchorCtr="0" anchor="t" bIns="0" lIns="0" spcFirstLastPara="1" rIns="0" wrap="square" tIns="0">
            <a:noAutofit/>
          </a:bodyPr>
          <a:lstStyle/>
          <a:p>
            <a:pPr indent="0" lvl="0" marL="0" marR="0" rtl="0" algn="l">
              <a:lnSpc>
                <a:spcPct val="159090"/>
              </a:lnSpc>
              <a:spcBef>
                <a:spcPts val="0"/>
              </a:spcBef>
              <a:spcAft>
                <a:spcPts val="0"/>
              </a:spcAft>
              <a:buClr>
                <a:srgbClr val="443728"/>
              </a:buClr>
              <a:buSzPts val="1100"/>
              <a:buFont typeface="Open Sans"/>
              <a:buNone/>
            </a:pPr>
            <a:r>
              <a:t/>
            </a:r>
            <a:endParaRPr b="0" i="0" sz="1100" u="none" cap="none" strike="noStrike"/>
          </a:p>
        </p:txBody>
      </p:sp>
      <p:sp>
        <p:nvSpPr>
          <p:cNvPr id="177" name="Google Shape;177;p21"/>
          <p:cNvSpPr/>
          <p:nvPr/>
        </p:nvSpPr>
        <p:spPr>
          <a:xfrm>
            <a:off x="497738" y="1301462"/>
            <a:ext cx="8148300" cy="1275600"/>
          </a:xfrm>
          <a:prstGeom prst="roundRect">
            <a:avLst>
              <a:gd fmla="val 5735" name="adj"/>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1"/>
          <p:cNvSpPr/>
          <p:nvPr/>
        </p:nvSpPr>
        <p:spPr>
          <a:xfrm>
            <a:off x="497738" y="1286222"/>
            <a:ext cx="8148300" cy="60900"/>
          </a:xfrm>
          <a:prstGeom prst="roundRect">
            <a:avLst>
              <a:gd fmla="val 98008" name="adj"/>
            </a:avLst>
          </a:prstGeom>
          <a:solidFill>
            <a:srgbClr val="835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1"/>
          <p:cNvSpPr/>
          <p:nvPr/>
        </p:nvSpPr>
        <p:spPr>
          <a:xfrm>
            <a:off x="4358640" y="1446252"/>
            <a:ext cx="426720" cy="426720"/>
          </a:xfrm>
          <a:prstGeom prst="roundRect">
            <a:avLst>
              <a:gd fmla="val 214286" name="adj"/>
            </a:avLst>
          </a:prstGeom>
          <a:solidFill>
            <a:srgbClr val="835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1"/>
          <p:cNvSpPr/>
          <p:nvPr/>
        </p:nvSpPr>
        <p:spPr>
          <a:xfrm>
            <a:off x="4486632" y="1552932"/>
            <a:ext cx="170617" cy="21336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FFFFFF"/>
              </a:buClr>
              <a:buSzPts val="1300"/>
              <a:buFont typeface="Crimson Pro"/>
              <a:buNone/>
            </a:pPr>
            <a:r>
              <a:rPr b="1" i="0" lang="en-US" sz="1300" u="none" cap="none" strike="noStrike">
                <a:solidFill>
                  <a:srgbClr val="FFFFFF"/>
                </a:solidFill>
                <a:latin typeface="Crimson Pro"/>
                <a:ea typeface="Crimson Pro"/>
                <a:cs typeface="Crimson Pro"/>
                <a:sym typeface="Crimson Pro"/>
              </a:rPr>
              <a:t>1</a:t>
            </a:r>
            <a:endParaRPr b="0" i="0" sz="1300" u="none" cap="none" strike="noStrike"/>
          </a:p>
        </p:txBody>
      </p:sp>
      <p:sp>
        <p:nvSpPr>
          <p:cNvPr id="181" name="Google Shape;181;p21"/>
          <p:cNvSpPr/>
          <p:nvPr/>
        </p:nvSpPr>
        <p:spPr>
          <a:xfrm>
            <a:off x="655139" y="1656983"/>
            <a:ext cx="1778100" cy="222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1400"/>
              <a:buFont typeface="Crimson Pro"/>
              <a:buNone/>
            </a:pPr>
            <a:r>
              <a:rPr b="1" i="0" lang="en-US" sz="1400" u="none" cap="none" strike="noStrike">
                <a:solidFill>
                  <a:srgbClr val="443728"/>
                </a:solidFill>
                <a:latin typeface="Crimson Pro"/>
                <a:ea typeface="Crimson Pro"/>
                <a:cs typeface="Crimson Pro"/>
                <a:sym typeface="Crimson Pro"/>
              </a:rPr>
              <a:t>Model Approach</a:t>
            </a:r>
            <a:endParaRPr b="0" i="0" sz="1400" u="none" cap="none" strike="noStrike"/>
          </a:p>
        </p:txBody>
      </p:sp>
      <p:sp>
        <p:nvSpPr>
          <p:cNvPr id="182" name="Google Shape;182;p21"/>
          <p:cNvSpPr/>
          <p:nvPr/>
        </p:nvSpPr>
        <p:spPr>
          <a:xfrm>
            <a:off x="655139" y="1964402"/>
            <a:ext cx="7833600" cy="455400"/>
          </a:xfrm>
          <a:prstGeom prst="rect">
            <a:avLst/>
          </a:prstGeom>
          <a:noFill/>
          <a:ln>
            <a:noFill/>
          </a:ln>
        </p:spPr>
        <p:txBody>
          <a:bodyPr anchorCtr="0" anchor="t" bIns="0" lIns="0" spcFirstLastPara="1" rIns="0" wrap="square" tIns="0">
            <a:noAutofit/>
          </a:bodyPr>
          <a:lstStyle/>
          <a:p>
            <a:pPr indent="0" lvl="0" marL="0" marR="0" rtl="0" algn="l">
              <a:lnSpc>
                <a:spcPct val="159090"/>
              </a:lnSpc>
              <a:spcBef>
                <a:spcPts val="0"/>
              </a:spcBef>
              <a:spcAft>
                <a:spcPts val="0"/>
              </a:spcAft>
              <a:buClr>
                <a:srgbClr val="443728"/>
              </a:buClr>
              <a:buSzPts val="1100"/>
              <a:buFont typeface="Open Sans"/>
              <a:buNone/>
            </a:pPr>
            <a:r>
              <a:rPr lang="en-US" sz="1100">
                <a:solidFill>
                  <a:srgbClr val="443728"/>
                </a:solidFill>
                <a:latin typeface="Open Sans"/>
                <a:ea typeface="Open Sans"/>
                <a:cs typeface="Open Sans"/>
                <a:sym typeface="Open Sans"/>
              </a:rPr>
              <a:t>Built classifiers to predict 0 / 1 / 2 relevance scores (Not Related, Moderately Related, Closely Related) using the Gemini-generated multiclass labels.</a:t>
            </a:r>
            <a:endParaRPr b="0" i="0" sz="1100" u="none" cap="none" strike="noStrike"/>
          </a:p>
        </p:txBody>
      </p:sp>
      <p:sp>
        <p:nvSpPr>
          <p:cNvPr id="183" name="Google Shape;183;p21"/>
          <p:cNvSpPr/>
          <p:nvPr/>
        </p:nvSpPr>
        <p:spPr>
          <a:xfrm>
            <a:off x="497738" y="2932618"/>
            <a:ext cx="8148300" cy="1275600"/>
          </a:xfrm>
          <a:prstGeom prst="roundRect">
            <a:avLst>
              <a:gd fmla="val 5735" name="adj"/>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1"/>
          <p:cNvSpPr/>
          <p:nvPr/>
        </p:nvSpPr>
        <p:spPr>
          <a:xfrm>
            <a:off x="497738" y="2917378"/>
            <a:ext cx="8148300" cy="60900"/>
          </a:xfrm>
          <a:prstGeom prst="roundRect">
            <a:avLst>
              <a:gd fmla="val 98008" name="adj"/>
            </a:avLst>
          </a:prstGeom>
          <a:solidFill>
            <a:srgbClr val="835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1"/>
          <p:cNvSpPr/>
          <p:nvPr/>
        </p:nvSpPr>
        <p:spPr>
          <a:xfrm>
            <a:off x="4358640" y="3077408"/>
            <a:ext cx="426720" cy="426720"/>
          </a:xfrm>
          <a:prstGeom prst="roundRect">
            <a:avLst>
              <a:gd fmla="val 214286" name="adj"/>
            </a:avLst>
          </a:prstGeom>
          <a:solidFill>
            <a:srgbClr val="835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1"/>
          <p:cNvSpPr/>
          <p:nvPr/>
        </p:nvSpPr>
        <p:spPr>
          <a:xfrm>
            <a:off x="4486632" y="3184088"/>
            <a:ext cx="170617" cy="21336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FFFFFF"/>
              </a:buClr>
              <a:buSzPts val="1300"/>
              <a:buFont typeface="Crimson Pro"/>
              <a:buNone/>
            </a:pPr>
            <a:r>
              <a:rPr b="1" i="0" lang="en-US" sz="1300" u="none" cap="none" strike="noStrike">
                <a:solidFill>
                  <a:srgbClr val="FFFFFF"/>
                </a:solidFill>
                <a:latin typeface="Crimson Pro"/>
                <a:ea typeface="Crimson Pro"/>
                <a:cs typeface="Crimson Pro"/>
                <a:sym typeface="Crimson Pro"/>
              </a:rPr>
              <a:t>2</a:t>
            </a:r>
            <a:endParaRPr b="0" i="0" sz="1300" u="none" cap="none" strike="noStrike"/>
          </a:p>
        </p:txBody>
      </p:sp>
      <p:sp>
        <p:nvSpPr>
          <p:cNvPr id="187" name="Google Shape;187;p21"/>
          <p:cNvSpPr/>
          <p:nvPr/>
        </p:nvSpPr>
        <p:spPr>
          <a:xfrm>
            <a:off x="655137" y="3288150"/>
            <a:ext cx="3013200" cy="222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1400"/>
              <a:buFont typeface="Crimson Pro"/>
              <a:buNone/>
            </a:pPr>
            <a:r>
              <a:rPr b="1" i="0" lang="en-US" sz="1400" u="none" cap="none" strike="noStrike">
                <a:solidFill>
                  <a:srgbClr val="443728"/>
                </a:solidFill>
                <a:latin typeface="Crimson Pro"/>
                <a:ea typeface="Crimson Pro"/>
                <a:cs typeface="Crimson Pro"/>
                <a:sym typeface="Crimson Pro"/>
              </a:rPr>
              <a:t>Feature Representation</a:t>
            </a:r>
            <a:endParaRPr b="0" i="0" sz="1400" u="none" cap="none" strike="noStrike"/>
          </a:p>
        </p:txBody>
      </p:sp>
      <p:sp>
        <p:nvSpPr>
          <p:cNvPr id="188" name="Google Shape;188;p21"/>
          <p:cNvSpPr/>
          <p:nvPr/>
        </p:nvSpPr>
        <p:spPr>
          <a:xfrm>
            <a:off x="655139" y="3595558"/>
            <a:ext cx="7833600" cy="455400"/>
          </a:xfrm>
          <a:prstGeom prst="rect">
            <a:avLst/>
          </a:prstGeom>
          <a:noFill/>
          <a:ln>
            <a:noFill/>
          </a:ln>
        </p:spPr>
        <p:txBody>
          <a:bodyPr anchorCtr="0" anchor="t" bIns="0" lIns="0" spcFirstLastPara="1" rIns="0" wrap="square" tIns="0">
            <a:noAutofit/>
          </a:bodyPr>
          <a:lstStyle/>
          <a:p>
            <a:pPr indent="0" lvl="0" marL="0" marR="0" rtl="0" algn="l">
              <a:lnSpc>
                <a:spcPct val="159090"/>
              </a:lnSpc>
              <a:spcBef>
                <a:spcPts val="0"/>
              </a:spcBef>
              <a:spcAft>
                <a:spcPts val="0"/>
              </a:spcAft>
              <a:buClr>
                <a:srgbClr val="443728"/>
              </a:buClr>
              <a:buSzPts val="1100"/>
              <a:buFont typeface="Open Sans"/>
              <a:buNone/>
            </a:pPr>
            <a:r>
              <a:rPr lang="en-US" sz="1100">
                <a:solidFill>
                  <a:srgbClr val="443728"/>
                </a:solidFill>
                <a:latin typeface="Open Sans"/>
                <a:ea typeface="Open Sans"/>
                <a:cs typeface="Open Sans"/>
                <a:sym typeface="Open Sans"/>
              </a:rPr>
              <a:t>Used embedding vectors from Sentence Transformers to represent both resumes and job descriptions, ensuring the model captured semantic similarity between skill sets.</a:t>
            </a:r>
            <a:endParaRPr b="0" i="0" sz="1100" u="none" cap="none" strike="noStrike"/>
          </a:p>
        </p:txBody>
      </p:sp>
      <p:sp>
        <p:nvSpPr>
          <p:cNvPr id="189" name="Google Shape;189;p21"/>
          <p:cNvSpPr/>
          <p:nvPr/>
        </p:nvSpPr>
        <p:spPr>
          <a:xfrm>
            <a:off x="497738" y="4563775"/>
            <a:ext cx="8148300" cy="1275600"/>
          </a:xfrm>
          <a:prstGeom prst="roundRect">
            <a:avLst>
              <a:gd fmla="val 5735" name="adj"/>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1"/>
          <p:cNvSpPr/>
          <p:nvPr/>
        </p:nvSpPr>
        <p:spPr>
          <a:xfrm>
            <a:off x="497738" y="4548535"/>
            <a:ext cx="8148300" cy="60900"/>
          </a:xfrm>
          <a:prstGeom prst="roundRect">
            <a:avLst>
              <a:gd fmla="val 98008" name="adj"/>
            </a:avLst>
          </a:prstGeom>
          <a:solidFill>
            <a:srgbClr val="835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1"/>
          <p:cNvSpPr/>
          <p:nvPr/>
        </p:nvSpPr>
        <p:spPr>
          <a:xfrm>
            <a:off x="4358640" y="4708565"/>
            <a:ext cx="426720" cy="426720"/>
          </a:xfrm>
          <a:prstGeom prst="roundRect">
            <a:avLst>
              <a:gd fmla="val 214286" name="adj"/>
            </a:avLst>
          </a:prstGeom>
          <a:solidFill>
            <a:srgbClr val="835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1"/>
          <p:cNvSpPr/>
          <p:nvPr/>
        </p:nvSpPr>
        <p:spPr>
          <a:xfrm>
            <a:off x="4486632" y="4815245"/>
            <a:ext cx="170617" cy="21336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FFFFFF"/>
              </a:buClr>
              <a:buSzPts val="1300"/>
              <a:buFont typeface="Crimson Pro"/>
              <a:buNone/>
            </a:pPr>
            <a:r>
              <a:rPr b="1" i="0" lang="en-US" sz="1300" u="none" cap="none" strike="noStrike">
                <a:solidFill>
                  <a:srgbClr val="FFFFFF"/>
                </a:solidFill>
                <a:latin typeface="Crimson Pro"/>
                <a:ea typeface="Crimson Pro"/>
                <a:cs typeface="Crimson Pro"/>
                <a:sym typeface="Crimson Pro"/>
              </a:rPr>
              <a:t>3</a:t>
            </a:r>
            <a:endParaRPr b="0" i="0" sz="1300" u="none" cap="none" strike="noStrike"/>
          </a:p>
        </p:txBody>
      </p:sp>
      <p:sp>
        <p:nvSpPr>
          <p:cNvPr id="193" name="Google Shape;193;p21"/>
          <p:cNvSpPr/>
          <p:nvPr/>
        </p:nvSpPr>
        <p:spPr>
          <a:xfrm>
            <a:off x="655137" y="4919300"/>
            <a:ext cx="3013200" cy="222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1400"/>
              <a:buFont typeface="Crimson Pro"/>
              <a:buNone/>
            </a:pPr>
            <a:r>
              <a:rPr b="1" i="0" lang="en-US" sz="1400" u="none" cap="none" strike="noStrike">
                <a:solidFill>
                  <a:srgbClr val="443728"/>
                </a:solidFill>
                <a:latin typeface="Crimson Pro"/>
                <a:ea typeface="Crimson Pro"/>
                <a:cs typeface="Crimson Pro"/>
                <a:sym typeface="Crimson Pro"/>
              </a:rPr>
              <a:t>Training/Evaluation Strategy</a:t>
            </a:r>
            <a:endParaRPr b="0" i="0" sz="1400" u="none" cap="none" strike="noStrike"/>
          </a:p>
        </p:txBody>
      </p:sp>
      <p:sp>
        <p:nvSpPr>
          <p:cNvPr id="194" name="Google Shape;194;p21"/>
          <p:cNvSpPr/>
          <p:nvPr/>
        </p:nvSpPr>
        <p:spPr>
          <a:xfrm>
            <a:off x="655139" y="5226715"/>
            <a:ext cx="7833600" cy="455400"/>
          </a:xfrm>
          <a:prstGeom prst="rect">
            <a:avLst/>
          </a:prstGeom>
          <a:noFill/>
          <a:ln>
            <a:noFill/>
          </a:ln>
        </p:spPr>
        <p:txBody>
          <a:bodyPr anchorCtr="0" anchor="t" bIns="0" lIns="0" spcFirstLastPara="1" rIns="0" wrap="square" tIns="0">
            <a:noAutofit/>
          </a:bodyPr>
          <a:lstStyle/>
          <a:p>
            <a:pPr indent="0" lvl="0" marL="0" marR="0" rtl="0" algn="l">
              <a:lnSpc>
                <a:spcPct val="159090"/>
              </a:lnSpc>
              <a:spcBef>
                <a:spcPts val="0"/>
              </a:spcBef>
              <a:spcAft>
                <a:spcPts val="0"/>
              </a:spcAft>
              <a:buClr>
                <a:srgbClr val="443728"/>
              </a:buClr>
              <a:buSzPts val="1100"/>
              <a:buFont typeface="Open Sans"/>
              <a:buNone/>
            </a:pPr>
            <a:r>
              <a:rPr lang="en-US" sz="1100">
                <a:solidFill>
                  <a:srgbClr val="443728"/>
                </a:solidFill>
                <a:latin typeface="Open Sans"/>
                <a:ea typeface="Open Sans"/>
                <a:cs typeface="Open Sans"/>
                <a:sym typeface="Open Sans"/>
              </a:rPr>
              <a:t>Trained standard multiclass models (e.g., Random Forest, MLP) and evaluated them with accuracy and confusion matrices to understand where the model confused similar classes.</a:t>
            </a:r>
            <a:endParaRPr b="0" i="0" sz="1100" u="none" cap="none" strike="noStrike"/>
          </a:p>
        </p:txBody>
      </p:sp>
      <p:sp>
        <p:nvSpPr>
          <p:cNvPr id="195" name="Google Shape;195;p21"/>
          <p:cNvSpPr/>
          <p:nvPr/>
        </p:nvSpPr>
        <p:spPr>
          <a:xfrm>
            <a:off x="497738" y="6194931"/>
            <a:ext cx="8148300" cy="1275600"/>
          </a:xfrm>
          <a:prstGeom prst="roundRect">
            <a:avLst>
              <a:gd fmla="val 5735" name="adj"/>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1"/>
          <p:cNvSpPr/>
          <p:nvPr/>
        </p:nvSpPr>
        <p:spPr>
          <a:xfrm>
            <a:off x="497738" y="6179691"/>
            <a:ext cx="8148300" cy="60900"/>
          </a:xfrm>
          <a:prstGeom prst="roundRect">
            <a:avLst>
              <a:gd fmla="val 98008" name="adj"/>
            </a:avLst>
          </a:prstGeom>
          <a:solidFill>
            <a:srgbClr val="835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1"/>
          <p:cNvSpPr/>
          <p:nvPr/>
        </p:nvSpPr>
        <p:spPr>
          <a:xfrm>
            <a:off x="4358640" y="6339721"/>
            <a:ext cx="426720" cy="426720"/>
          </a:xfrm>
          <a:prstGeom prst="roundRect">
            <a:avLst>
              <a:gd fmla="val 214286" name="adj"/>
            </a:avLst>
          </a:prstGeom>
          <a:solidFill>
            <a:srgbClr val="835E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1"/>
          <p:cNvSpPr/>
          <p:nvPr/>
        </p:nvSpPr>
        <p:spPr>
          <a:xfrm>
            <a:off x="4486632" y="6446401"/>
            <a:ext cx="170617" cy="21336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FFFFFF"/>
              </a:buClr>
              <a:buSzPts val="1300"/>
              <a:buFont typeface="Crimson Pro"/>
              <a:buNone/>
            </a:pPr>
            <a:r>
              <a:rPr b="1" i="0" lang="en-US" sz="1300" u="none" cap="none" strike="noStrike">
                <a:solidFill>
                  <a:srgbClr val="FFFFFF"/>
                </a:solidFill>
                <a:latin typeface="Crimson Pro"/>
                <a:ea typeface="Crimson Pro"/>
                <a:cs typeface="Crimson Pro"/>
                <a:sym typeface="Crimson Pro"/>
              </a:rPr>
              <a:t>4</a:t>
            </a:r>
            <a:endParaRPr b="0" i="0" sz="1300" u="none" cap="none" strike="noStrike"/>
          </a:p>
        </p:txBody>
      </p:sp>
      <p:sp>
        <p:nvSpPr>
          <p:cNvPr id="199" name="Google Shape;199;p21"/>
          <p:cNvSpPr/>
          <p:nvPr/>
        </p:nvSpPr>
        <p:spPr>
          <a:xfrm>
            <a:off x="655139" y="6550452"/>
            <a:ext cx="1778100" cy="222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1400"/>
              <a:buFont typeface="Crimson Pro"/>
              <a:buNone/>
            </a:pPr>
            <a:r>
              <a:rPr b="1" i="0" lang="en-US" sz="1400" u="none" cap="none" strike="noStrike">
                <a:solidFill>
                  <a:srgbClr val="443728"/>
                </a:solidFill>
                <a:latin typeface="Crimson Pro"/>
                <a:ea typeface="Crimson Pro"/>
                <a:cs typeface="Crimson Pro"/>
                <a:sym typeface="Crimson Pro"/>
              </a:rPr>
              <a:t>Visuals/Results</a:t>
            </a:r>
            <a:endParaRPr b="0" i="0" sz="1400" u="none" cap="none" strike="noStrike"/>
          </a:p>
        </p:txBody>
      </p:sp>
      <p:sp>
        <p:nvSpPr>
          <p:cNvPr id="200" name="Google Shape;200;p21"/>
          <p:cNvSpPr/>
          <p:nvPr/>
        </p:nvSpPr>
        <p:spPr>
          <a:xfrm>
            <a:off x="655139" y="6857871"/>
            <a:ext cx="7833600" cy="455400"/>
          </a:xfrm>
          <a:prstGeom prst="rect">
            <a:avLst/>
          </a:prstGeom>
          <a:noFill/>
          <a:ln>
            <a:noFill/>
          </a:ln>
        </p:spPr>
        <p:txBody>
          <a:bodyPr anchorCtr="0" anchor="t" bIns="0" lIns="0" spcFirstLastPara="1" rIns="0" wrap="square" tIns="0">
            <a:noAutofit/>
          </a:bodyPr>
          <a:lstStyle/>
          <a:p>
            <a:pPr indent="0" lvl="0" marL="0" marR="0" rtl="0" algn="l">
              <a:lnSpc>
                <a:spcPct val="159090"/>
              </a:lnSpc>
              <a:spcBef>
                <a:spcPts val="0"/>
              </a:spcBef>
              <a:spcAft>
                <a:spcPts val="0"/>
              </a:spcAft>
              <a:buClr>
                <a:srgbClr val="443728"/>
              </a:buClr>
              <a:buSzPts val="1100"/>
              <a:buFont typeface="Open Sans"/>
              <a:buNone/>
            </a:pPr>
            <a:r>
              <a:rPr lang="en-US" sz="1100">
                <a:solidFill>
                  <a:srgbClr val="443728"/>
                </a:solidFill>
                <a:latin typeface="Open Sans"/>
                <a:ea typeface="Open Sans"/>
                <a:cs typeface="Open Sans"/>
                <a:sym typeface="Open Sans"/>
              </a:rPr>
              <a:t>Planned visual outputs such as class distribution, confusion matrix, and per-class accuracy to show how well the model distinguishes between the three relevance levels.</a:t>
            </a:r>
            <a:endParaRPr b="0" i="0" sz="1100" u="none" cap="none" strike="noStrike"/>
          </a:p>
        </p:txBody>
      </p:sp>
      <p:sp>
        <p:nvSpPr>
          <p:cNvPr id="201" name="Google Shape;201;p21"/>
          <p:cNvSpPr/>
          <p:nvPr/>
        </p:nvSpPr>
        <p:spPr>
          <a:xfrm>
            <a:off x="12102025" y="7800350"/>
            <a:ext cx="2475300" cy="334800"/>
          </a:xfrm>
          <a:prstGeom prst="rect">
            <a:avLst/>
          </a:prstGeom>
          <a:solidFill>
            <a:srgbClr val="FFFC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2" name="Google Shape;202;p21"/>
          <p:cNvPicPr preferRelativeResize="0"/>
          <p:nvPr/>
        </p:nvPicPr>
        <p:blipFill rotWithShape="1">
          <a:blip r:embed="rId3">
            <a:alphaModFix/>
          </a:blip>
          <a:srcRect b="0" l="21683" r="25570" t="0"/>
          <a:stretch/>
        </p:blipFill>
        <p:spPr>
          <a:xfrm>
            <a:off x="9482325" y="1527575"/>
            <a:ext cx="4502774" cy="48020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p:nvPr/>
        </p:nvSpPr>
        <p:spPr>
          <a:xfrm>
            <a:off x="791647" y="623054"/>
            <a:ext cx="12863512" cy="706874"/>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443728"/>
              </a:buClr>
              <a:buSzPts val="4450"/>
              <a:buFont typeface="Crimson Pro"/>
              <a:buNone/>
            </a:pPr>
            <a:r>
              <a:rPr b="1" i="0" lang="en-US" sz="4450" u="none" cap="none" strike="noStrike">
                <a:solidFill>
                  <a:srgbClr val="443728"/>
                </a:solidFill>
                <a:latin typeface="Crimson Pro"/>
                <a:ea typeface="Crimson Pro"/>
                <a:cs typeface="Crimson Pro"/>
                <a:sym typeface="Crimson Pro"/>
              </a:rPr>
              <a:t>Error Analysis, Future Improvements, and Conclusion</a:t>
            </a:r>
            <a:endParaRPr b="0" i="0" sz="4450" u="none" cap="none" strike="noStrike"/>
          </a:p>
        </p:txBody>
      </p:sp>
      <p:sp>
        <p:nvSpPr>
          <p:cNvPr id="209" name="Google Shape;209;p22"/>
          <p:cNvSpPr/>
          <p:nvPr/>
        </p:nvSpPr>
        <p:spPr>
          <a:xfrm>
            <a:off x="352198" y="1828825"/>
            <a:ext cx="2475300" cy="3534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443728"/>
              </a:buClr>
              <a:buSzPts val="2200"/>
              <a:buFont typeface="Crimson Pro"/>
              <a:buNone/>
            </a:pPr>
            <a:r>
              <a:rPr b="1" i="0" lang="en-US" sz="2200" u="none" cap="none" strike="noStrike">
                <a:solidFill>
                  <a:srgbClr val="443728"/>
                </a:solidFill>
                <a:latin typeface="Crimson Pro"/>
                <a:ea typeface="Crimson Pro"/>
                <a:cs typeface="Crimson Pro"/>
                <a:sym typeface="Crimson Pro"/>
              </a:rPr>
              <a:t>Error Analysis</a:t>
            </a:r>
            <a:endParaRPr b="0" i="0" sz="2200" u="none" cap="none" strike="noStrike"/>
          </a:p>
        </p:txBody>
      </p:sp>
      <p:sp>
        <p:nvSpPr>
          <p:cNvPr id="210" name="Google Shape;210;p22"/>
          <p:cNvSpPr/>
          <p:nvPr/>
        </p:nvSpPr>
        <p:spPr>
          <a:xfrm>
            <a:off x="730475" y="2504425"/>
            <a:ext cx="4905900" cy="1086000"/>
          </a:xfrm>
          <a:prstGeom prst="rect">
            <a:avLst/>
          </a:prstGeom>
          <a:noFill/>
          <a:ln>
            <a:noFill/>
          </a:ln>
        </p:spPr>
        <p:txBody>
          <a:bodyPr anchorCtr="0" anchor="t" bIns="0" lIns="0" spcFirstLastPara="1" rIns="0" wrap="square" tIns="0">
            <a:noAutofit/>
          </a:bodyPr>
          <a:lstStyle/>
          <a:p>
            <a:pPr indent="-314325" lvl="0" marL="457200" marR="0" rtl="0" algn="l">
              <a:lnSpc>
                <a:spcPct val="160000"/>
              </a:lnSpc>
              <a:spcBef>
                <a:spcPts val="0"/>
              </a:spcBef>
              <a:spcAft>
                <a:spcPts val="0"/>
              </a:spcAft>
              <a:buClr>
                <a:srgbClr val="443728"/>
              </a:buClr>
              <a:buSzPts val="1350"/>
              <a:buFont typeface="Open Sans"/>
              <a:buChar char="●"/>
            </a:pPr>
            <a:r>
              <a:rPr lang="en-US" sz="1350">
                <a:solidFill>
                  <a:srgbClr val="443728"/>
                </a:solidFill>
                <a:latin typeface="Open Sans"/>
                <a:ea typeface="Open Sans"/>
                <a:cs typeface="Open Sans"/>
                <a:sym typeface="Open Sans"/>
              </a:rPr>
              <a:t>Accuracy peaked at ~70%, mainly because the early labels (400-label set) introduced bias and noise thathurt model performance.</a:t>
            </a:r>
            <a:endParaRPr sz="1350">
              <a:solidFill>
                <a:srgbClr val="443728"/>
              </a:solidFill>
              <a:latin typeface="Open Sans"/>
              <a:ea typeface="Open Sans"/>
              <a:cs typeface="Open Sans"/>
              <a:sym typeface="Open Sans"/>
            </a:endParaRPr>
          </a:p>
          <a:p>
            <a:pPr indent="-314325" lvl="0" marL="457200" marR="0" rtl="0" algn="l">
              <a:lnSpc>
                <a:spcPct val="160000"/>
              </a:lnSpc>
              <a:spcBef>
                <a:spcPts val="0"/>
              </a:spcBef>
              <a:spcAft>
                <a:spcPts val="0"/>
              </a:spcAft>
              <a:buClr>
                <a:srgbClr val="443728"/>
              </a:buClr>
              <a:buSzPts val="1350"/>
              <a:buFont typeface="Open Sans"/>
              <a:buChar char="●"/>
            </a:pPr>
            <a:r>
              <a:rPr lang="en-US" sz="1350">
                <a:solidFill>
                  <a:srgbClr val="443728"/>
                </a:solidFill>
                <a:latin typeface="Open Sans"/>
                <a:ea typeface="Open Sans"/>
                <a:cs typeface="Open Sans"/>
                <a:sym typeface="Open Sans"/>
              </a:rPr>
              <a:t>Adding more labels (1250) helped the MLP, but RFC/SVM dropped slightly, showing sensitivity to inconsistent or low-quality labels.</a:t>
            </a:r>
            <a:endParaRPr sz="1350">
              <a:solidFill>
                <a:srgbClr val="443728"/>
              </a:solidFill>
              <a:latin typeface="Open Sans"/>
              <a:ea typeface="Open Sans"/>
              <a:cs typeface="Open Sans"/>
              <a:sym typeface="Open Sans"/>
            </a:endParaRPr>
          </a:p>
        </p:txBody>
      </p:sp>
      <p:pic>
        <p:nvPicPr>
          <p:cNvPr descr="preencoded.png" id="211" name="Google Shape;211;p22"/>
          <p:cNvPicPr preferRelativeResize="0"/>
          <p:nvPr/>
        </p:nvPicPr>
        <p:blipFill rotWithShape="1">
          <a:blip r:embed="rId3">
            <a:alphaModFix/>
          </a:blip>
          <a:srcRect b="0" l="0" r="0" t="0"/>
          <a:stretch/>
        </p:blipFill>
        <p:spPr>
          <a:xfrm>
            <a:off x="5031938" y="2719388"/>
            <a:ext cx="4566404" cy="4566404"/>
          </a:xfrm>
          <a:prstGeom prst="rect">
            <a:avLst/>
          </a:prstGeom>
          <a:noFill/>
          <a:ln>
            <a:noFill/>
          </a:ln>
        </p:spPr>
      </p:pic>
      <p:pic>
        <p:nvPicPr>
          <p:cNvPr descr="preencoded.png" id="212" name="Google Shape;212;p22"/>
          <p:cNvPicPr preferRelativeResize="0"/>
          <p:nvPr/>
        </p:nvPicPr>
        <p:blipFill rotWithShape="1">
          <a:blip r:embed="rId4">
            <a:alphaModFix/>
          </a:blip>
          <a:srcRect b="0" l="0" r="0" t="0"/>
          <a:stretch/>
        </p:blipFill>
        <p:spPr>
          <a:xfrm>
            <a:off x="6324660" y="4012109"/>
            <a:ext cx="318016" cy="318016"/>
          </a:xfrm>
          <a:prstGeom prst="rect">
            <a:avLst/>
          </a:prstGeom>
          <a:noFill/>
          <a:ln>
            <a:noFill/>
          </a:ln>
        </p:spPr>
      </p:pic>
      <p:sp>
        <p:nvSpPr>
          <p:cNvPr id="213" name="Google Shape;213;p22"/>
          <p:cNvSpPr/>
          <p:nvPr/>
        </p:nvSpPr>
        <p:spPr>
          <a:xfrm>
            <a:off x="9598343" y="1828833"/>
            <a:ext cx="2827500" cy="35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2200"/>
              <a:buFont typeface="Crimson Pro"/>
              <a:buNone/>
            </a:pPr>
            <a:r>
              <a:rPr b="1" i="0" lang="en-US" sz="2200" u="none" cap="none" strike="noStrike">
                <a:solidFill>
                  <a:srgbClr val="443728"/>
                </a:solidFill>
                <a:latin typeface="Crimson Pro"/>
                <a:ea typeface="Crimson Pro"/>
                <a:cs typeface="Crimson Pro"/>
                <a:sym typeface="Crimson Pro"/>
              </a:rPr>
              <a:t>Model Improvements</a:t>
            </a:r>
            <a:endParaRPr b="0" i="0" sz="2200" u="none" cap="none" strike="noStrike"/>
          </a:p>
        </p:txBody>
      </p:sp>
      <p:sp>
        <p:nvSpPr>
          <p:cNvPr id="214" name="Google Shape;214;p22"/>
          <p:cNvSpPr/>
          <p:nvPr/>
        </p:nvSpPr>
        <p:spPr>
          <a:xfrm>
            <a:off x="9598351" y="2424013"/>
            <a:ext cx="4566300" cy="1447800"/>
          </a:xfrm>
          <a:prstGeom prst="rect">
            <a:avLst/>
          </a:prstGeom>
          <a:noFill/>
          <a:ln>
            <a:noFill/>
          </a:ln>
        </p:spPr>
        <p:txBody>
          <a:bodyPr anchorCtr="0" anchor="t" bIns="0" lIns="0" spcFirstLastPara="1" rIns="0" wrap="square" tIns="0">
            <a:noAutofit/>
          </a:bodyPr>
          <a:lstStyle/>
          <a:p>
            <a:pPr indent="-314325" lvl="0" marL="457200" marR="0" rtl="0" algn="l">
              <a:lnSpc>
                <a:spcPct val="160000"/>
              </a:lnSpc>
              <a:spcBef>
                <a:spcPts val="0"/>
              </a:spcBef>
              <a:spcAft>
                <a:spcPts val="0"/>
              </a:spcAft>
              <a:buClr>
                <a:srgbClr val="443728"/>
              </a:buClr>
              <a:buSzPts val="1350"/>
              <a:buFont typeface="Open Sans"/>
              <a:buChar char="●"/>
            </a:pPr>
            <a:r>
              <a:rPr lang="en-US" sz="1350">
                <a:solidFill>
                  <a:srgbClr val="443728"/>
                </a:solidFill>
                <a:latin typeface="Open Sans"/>
                <a:ea typeface="Open Sans"/>
                <a:cs typeface="Open Sans"/>
                <a:sym typeface="Open Sans"/>
              </a:rPr>
              <a:t>Improve label quality by using a stronger LLM or better APIs, and randomly sample data to avoid skewing toward specific job types.</a:t>
            </a:r>
            <a:endParaRPr sz="1350">
              <a:solidFill>
                <a:srgbClr val="443728"/>
              </a:solidFill>
              <a:latin typeface="Open Sans"/>
              <a:ea typeface="Open Sans"/>
              <a:cs typeface="Open Sans"/>
              <a:sym typeface="Open Sans"/>
            </a:endParaRPr>
          </a:p>
          <a:p>
            <a:pPr indent="-314325" lvl="0" marL="457200" marR="0" rtl="0" algn="l">
              <a:lnSpc>
                <a:spcPct val="160000"/>
              </a:lnSpc>
              <a:spcBef>
                <a:spcPts val="0"/>
              </a:spcBef>
              <a:spcAft>
                <a:spcPts val="0"/>
              </a:spcAft>
              <a:buClr>
                <a:srgbClr val="443728"/>
              </a:buClr>
              <a:buSzPts val="1350"/>
              <a:buFont typeface="Open Sans"/>
              <a:buChar char="●"/>
            </a:pPr>
            <a:r>
              <a:rPr lang="en-US" sz="1350">
                <a:solidFill>
                  <a:srgbClr val="443728"/>
                </a:solidFill>
                <a:latin typeface="Open Sans"/>
                <a:ea typeface="Open Sans"/>
                <a:cs typeface="Open Sans"/>
                <a:sym typeface="Open Sans"/>
              </a:rPr>
              <a:t>Increase dataset size further and refine embeddings to reduce bias, avoid overfitting, and raise overall accuracy.</a:t>
            </a:r>
            <a:endParaRPr sz="1350">
              <a:solidFill>
                <a:srgbClr val="443728"/>
              </a:solidFill>
              <a:latin typeface="Open Sans"/>
              <a:ea typeface="Open Sans"/>
              <a:cs typeface="Open Sans"/>
              <a:sym typeface="Open Sans"/>
            </a:endParaRPr>
          </a:p>
        </p:txBody>
      </p:sp>
      <p:pic>
        <p:nvPicPr>
          <p:cNvPr descr="preencoded.png" id="215" name="Google Shape;215;p22"/>
          <p:cNvPicPr preferRelativeResize="0"/>
          <p:nvPr/>
        </p:nvPicPr>
        <p:blipFill rotWithShape="1">
          <a:blip r:embed="rId5">
            <a:alphaModFix/>
          </a:blip>
          <a:srcRect b="0" l="0" r="0" t="0"/>
          <a:stretch/>
        </p:blipFill>
        <p:spPr>
          <a:xfrm>
            <a:off x="5031938" y="2719388"/>
            <a:ext cx="4566404" cy="4566404"/>
          </a:xfrm>
          <a:prstGeom prst="rect">
            <a:avLst/>
          </a:prstGeom>
          <a:noFill/>
          <a:ln>
            <a:noFill/>
          </a:ln>
        </p:spPr>
      </p:pic>
      <p:pic>
        <p:nvPicPr>
          <p:cNvPr descr="preencoded.png" id="216" name="Google Shape;216;p22"/>
          <p:cNvPicPr preferRelativeResize="0"/>
          <p:nvPr/>
        </p:nvPicPr>
        <p:blipFill rotWithShape="1">
          <a:blip r:embed="rId6">
            <a:alphaModFix/>
          </a:blip>
          <a:srcRect b="0" l="0" r="0" t="0"/>
          <a:stretch/>
        </p:blipFill>
        <p:spPr>
          <a:xfrm>
            <a:off x="7987486" y="4012109"/>
            <a:ext cx="318016" cy="318016"/>
          </a:xfrm>
          <a:prstGeom prst="rect">
            <a:avLst/>
          </a:prstGeom>
          <a:noFill/>
          <a:ln>
            <a:noFill/>
          </a:ln>
        </p:spPr>
      </p:pic>
      <p:sp>
        <p:nvSpPr>
          <p:cNvPr id="217" name="Google Shape;217;p22"/>
          <p:cNvSpPr/>
          <p:nvPr/>
        </p:nvSpPr>
        <p:spPr>
          <a:xfrm>
            <a:off x="9650293" y="4902669"/>
            <a:ext cx="2827500" cy="35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2200"/>
              <a:buFont typeface="Crimson Pro"/>
              <a:buNone/>
            </a:pPr>
            <a:r>
              <a:rPr b="1" i="0" lang="en-US" sz="2200" u="none" cap="none" strike="noStrike">
                <a:solidFill>
                  <a:srgbClr val="443728"/>
                </a:solidFill>
                <a:latin typeface="Crimson Pro"/>
                <a:ea typeface="Crimson Pro"/>
                <a:cs typeface="Crimson Pro"/>
                <a:sym typeface="Crimson Pro"/>
              </a:rPr>
              <a:t>Future Work</a:t>
            </a:r>
            <a:endParaRPr b="0" i="0" sz="2200" u="none" cap="none" strike="noStrike"/>
          </a:p>
        </p:txBody>
      </p:sp>
      <p:sp>
        <p:nvSpPr>
          <p:cNvPr id="218" name="Google Shape;218;p22"/>
          <p:cNvSpPr/>
          <p:nvPr/>
        </p:nvSpPr>
        <p:spPr>
          <a:xfrm>
            <a:off x="9598351" y="5491550"/>
            <a:ext cx="4566300" cy="1447800"/>
          </a:xfrm>
          <a:prstGeom prst="rect">
            <a:avLst/>
          </a:prstGeom>
          <a:noFill/>
          <a:ln>
            <a:noFill/>
          </a:ln>
        </p:spPr>
        <p:txBody>
          <a:bodyPr anchorCtr="0" anchor="t" bIns="0" lIns="0" spcFirstLastPara="1" rIns="0" wrap="square" tIns="0">
            <a:noAutofit/>
          </a:bodyPr>
          <a:lstStyle/>
          <a:p>
            <a:pPr indent="-314325" lvl="0" marL="457200" marR="0" rtl="0" algn="l">
              <a:lnSpc>
                <a:spcPct val="160000"/>
              </a:lnSpc>
              <a:spcBef>
                <a:spcPts val="0"/>
              </a:spcBef>
              <a:spcAft>
                <a:spcPts val="0"/>
              </a:spcAft>
              <a:buClr>
                <a:srgbClr val="443728"/>
              </a:buClr>
              <a:buSzPts val="1350"/>
              <a:buFont typeface="Open Sans"/>
              <a:buChar char="●"/>
            </a:pPr>
            <a:r>
              <a:rPr lang="en-US" sz="1350">
                <a:solidFill>
                  <a:srgbClr val="443728"/>
                </a:solidFill>
                <a:latin typeface="Open Sans"/>
                <a:ea typeface="Open Sans"/>
                <a:cs typeface="Open Sans"/>
                <a:sym typeface="Open Sans"/>
              </a:rPr>
              <a:t>Expand labeling with higher-accuracy LLMs and larger sampled datasets for more reliable predictions.</a:t>
            </a:r>
            <a:endParaRPr sz="1350">
              <a:solidFill>
                <a:srgbClr val="443728"/>
              </a:solidFill>
              <a:latin typeface="Open Sans"/>
              <a:ea typeface="Open Sans"/>
              <a:cs typeface="Open Sans"/>
              <a:sym typeface="Open Sans"/>
            </a:endParaRPr>
          </a:p>
          <a:p>
            <a:pPr indent="-314325" lvl="0" marL="457200" marR="0" rtl="0" algn="l">
              <a:lnSpc>
                <a:spcPct val="160000"/>
              </a:lnSpc>
              <a:spcBef>
                <a:spcPts val="0"/>
              </a:spcBef>
              <a:spcAft>
                <a:spcPts val="0"/>
              </a:spcAft>
              <a:buClr>
                <a:srgbClr val="443728"/>
              </a:buClr>
              <a:buSzPts val="1350"/>
              <a:buFont typeface="Open Sans"/>
              <a:buChar char="●"/>
            </a:pPr>
            <a:r>
              <a:rPr lang="en-US" sz="1350">
                <a:solidFill>
                  <a:srgbClr val="443728"/>
                </a:solidFill>
                <a:latin typeface="Open Sans"/>
                <a:ea typeface="Open Sans"/>
                <a:cs typeface="Open Sans"/>
                <a:sym typeface="Open Sans"/>
              </a:rPr>
              <a:t>Integrate real-time resume feedback, stronger text embeddings, and improved subjective scoring for a more complete ATS-style evaluation tool.</a:t>
            </a:r>
            <a:endParaRPr sz="1150">
              <a:solidFill>
                <a:srgbClr val="443728"/>
              </a:solidFill>
              <a:latin typeface="Open Sans"/>
              <a:ea typeface="Open Sans"/>
              <a:cs typeface="Open Sans"/>
              <a:sym typeface="Open Sans"/>
            </a:endParaRPr>
          </a:p>
        </p:txBody>
      </p:sp>
      <p:pic>
        <p:nvPicPr>
          <p:cNvPr descr="preencoded.png" id="219" name="Google Shape;219;p22"/>
          <p:cNvPicPr preferRelativeResize="0"/>
          <p:nvPr/>
        </p:nvPicPr>
        <p:blipFill rotWithShape="1">
          <a:blip r:embed="rId7">
            <a:alphaModFix/>
          </a:blip>
          <a:srcRect b="0" l="0" r="0" t="0"/>
          <a:stretch/>
        </p:blipFill>
        <p:spPr>
          <a:xfrm>
            <a:off x="5031938" y="2719388"/>
            <a:ext cx="4566404" cy="4566404"/>
          </a:xfrm>
          <a:prstGeom prst="rect">
            <a:avLst/>
          </a:prstGeom>
          <a:noFill/>
          <a:ln>
            <a:noFill/>
          </a:ln>
        </p:spPr>
      </p:pic>
      <p:pic>
        <p:nvPicPr>
          <p:cNvPr descr="preencoded.png" id="220" name="Google Shape;220;p22"/>
          <p:cNvPicPr preferRelativeResize="0"/>
          <p:nvPr/>
        </p:nvPicPr>
        <p:blipFill rotWithShape="1">
          <a:blip r:embed="rId8">
            <a:alphaModFix/>
          </a:blip>
          <a:srcRect b="0" l="0" r="0" t="0"/>
          <a:stretch/>
        </p:blipFill>
        <p:spPr>
          <a:xfrm>
            <a:off x="7987486" y="5674935"/>
            <a:ext cx="318016" cy="318016"/>
          </a:xfrm>
          <a:prstGeom prst="rect">
            <a:avLst/>
          </a:prstGeom>
          <a:noFill/>
          <a:ln>
            <a:noFill/>
          </a:ln>
        </p:spPr>
      </p:pic>
      <p:sp>
        <p:nvSpPr>
          <p:cNvPr id="221" name="Google Shape;221;p22"/>
          <p:cNvSpPr/>
          <p:nvPr/>
        </p:nvSpPr>
        <p:spPr>
          <a:xfrm>
            <a:off x="11" y="4623619"/>
            <a:ext cx="2827500" cy="3534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443728"/>
              </a:buClr>
              <a:buSzPts val="2200"/>
              <a:buFont typeface="Crimson Pro"/>
              <a:buNone/>
            </a:pPr>
            <a:r>
              <a:rPr b="1" i="0" lang="en-US" sz="2200" u="none" cap="none" strike="noStrike">
                <a:solidFill>
                  <a:srgbClr val="443728"/>
                </a:solidFill>
                <a:latin typeface="Crimson Pro"/>
                <a:ea typeface="Crimson Pro"/>
                <a:cs typeface="Crimson Pro"/>
                <a:sym typeface="Crimson Pro"/>
              </a:rPr>
              <a:t>Final Summary</a:t>
            </a:r>
            <a:endParaRPr b="0" i="0" sz="2200" u="none" cap="none" strike="noStrike"/>
          </a:p>
        </p:txBody>
      </p:sp>
      <p:sp>
        <p:nvSpPr>
          <p:cNvPr id="222" name="Google Shape;222;p22"/>
          <p:cNvSpPr/>
          <p:nvPr/>
        </p:nvSpPr>
        <p:spPr>
          <a:xfrm>
            <a:off x="762947" y="5255421"/>
            <a:ext cx="4240200" cy="1447800"/>
          </a:xfrm>
          <a:prstGeom prst="rect">
            <a:avLst/>
          </a:prstGeom>
          <a:noFill/>
          <a:ln>
            <a:noFill/>
          </a:ln>
        </p:spPr>
        <p:txBody>
          <a:bodyPr anchorCtr="0" anchor="t" bIns="0" lIns="0" spcFirstLastPara="1" rIns="0" wrap="square" tIns="0">
            <a:noAutofit/>
          </a:bodyPr>
          <a:lstStyle/>
          <a:p>
            <a:pPr indent="-307975" lvl="0" marL="457200" marR="0" rtl="0" algn="l">
              <a:lnSpc>
                <a:spcPct val="160000"/>
              </a:lnSpc>
              <a:spcBef>
                <a:spcPts val="0"/>
              </a:spcBef>
              <a:spcAft>
                <a:spcPts val="0"/>
              </a:spcAft>
              <a:buClr>
                <a:srgbClr val="443728"/>
              </a:buClr>
              <a:buSzPts val="1250"/>
              <a:buFont typeface="Open Sans"/>
              <a:buChar char="●"/>
            </a:pPr>
            <a:r>
              <a:rPr lang="en-US" sz="1250">
                <a:solidFill>
                  <a:srgbClr val="443728"/>
                </a:solidFill>
                <a:latin typeface="Open Sans"/>
                <a:ea typeface="Open Sans"/>
                <a:cs typeface="Open Sans"/>
                <a:sym typeface="Open Sans"/>
              </a:rPr>
              <a:t>Our pipeline successfully automated ATS-style feedback, with the MLP performing best, but both binary and subjective feedback models showed clear limitations tied to label quality.</a:t>
            </a:r>
            <a:endParaRPr sz="1250">
              <a:solidFill>
                <a:srgbClr val="443728"/>
              </a:solidFill>
              <a:latin typeface="Open Sans"/>
              <a:ea typeface="Open Sans"/>
              <a:cs typeface="Open Sans"/>
              <a:sym typeface="Open Sans"/>
            </a:endParaRPr>
          </a:p>
          <a:p>
            <a:pPr indent="-307975" lvl="0" marL="457200" marR="0" rtl="0" algn="l">
              <a:lnSpc>
                <a:spcPct val="160000"/>
              </a:lnSpc>
              <a:spcBef>
                <a:spcPts val="0"/>
              </a:spcBef>
              <a:spcAft>
                <a:spcPts val="0"/>
              </a:spcAft>
              <a:buClr>
                <a:srgbClr val="443728"/>
              </a:buClr>
              <a:buSzPts val="1250"/>
              <a:buFont typeface="Open Sans"/>
              <a:buChar char="●"/>
            </a:pPr>
            <a:r>
              <a:rPr lang="en-US" sz="1250">
                <a:solidFill>
                  <a:srgbClr val="443728"/>
                </a:solidFill>
                <a:latin typeface="Open Sans"/>
                <a:ea typeface="Open Sans"/>
                <a:cs typeface="Open Sans"/>
                <a:sym typeface="Open Sans"/>
              </a:rPr>
              <a:t>•The project proved the approach works, but higher-quality labels and stronger embedding methods are needed for reliable real-world accuracy.</a:t>
            </a:r>
            <a:endParaRPr sz="1250">
              <a:solidFill>
                <a:srgbClr val="443728"/>
              </a:solidFill>
              <a:latin typeface="Open Sans"/>
              <a:ea typeface="Open Sans"/>
              <a:cs typeface="Open Sans"/>
              <a:sym typeface="Open Sans"/>
            </a:endParaRPr>
          </a:p>
        </p:txBody>
      </p:sp>
      <p:pic>
        <p:nvPicPr>
          <p:cNvPr descr="preencoded.png" id="223" name="Google Shape;223;p22"/>
          <p:cNvPicPr preferRelativeResize="0"/>
          <p:nvPr/>
        </p:nvPicPr>
        <p:blipFill rotWithShape="1">
          <a:blip r:embed="rId9">
            <a:alphaModFix/>
          </a:blip>
          <a:srcRect b="0" l="0" r="0" t="0"/>
          <a:stretch/>
        </p:blipFill>
        <p:spPr>
          <a:xfrm>
            <a:off x="5031938" y="2719388"/>
            <a:ext cx="4566405" cy="4566405"/>
          </a:xfrm>
          <a:prstGeom prst="rect">
            <a:avLst/>
          </a:prstGeom>
          <a:noFill/>
          <a:ln>
            <a:noFill/>
          </a:ln>
        </p:spPr>
      </p:pic>
      <p:pic>
        <p:nvPicPr>
          <p:cNvPr descr="preencoded.png" id="224" name="Google Shape;224;p22"/>
          <p:cNvPicPr preferRelativeResize="0"/>
          <p:nvPr/>
        </p:nvPicPr>
        <p:blipFill rotWithShape="1">
          <a:blip r:embed="rId10">
            <a:alphaModFix/>
          </a:blip>
          <a:srcRect b="0" l="0" r="0" t="0"/>
          <a:stretch/>
        </p:blipFill>
        <p:spPr>
          <a:xfrm>
            <a:off x="6324660" y="5674935"/>
            <a:ext cx="318016" cy="318016"/>
          </a:xfrm>
          <a:prstGeom prst="rect">
            <a:avLst/>
          </a:prstGeom>
          <a:noFill/>
          <a:ln>
            <a:noFill/>
          </a:ln>
        </p:spPr>
      </p:pic>
      <p:sp>
        <p:nvSpPr>
          <p:cNvPr id="225" name="Google Shape;225;p22"/>
          <p:cNvSpPr/>
          <p:nvPr/>
        </p:nvSpPr>
        <p:spPr>
          <a:xfrm>
            <a:off x="12266725" y="7791175"/>
            <a:ext cx="2475300" cy="334800"/>
          </a:xfrm>
          <a:prstGeom prst="rect">
            <a:avLst/>
          </a:prstGeom>
          <a:solidFill>
            <a:srgbClr val="FFFC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